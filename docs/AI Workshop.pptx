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993" r:id="rId1"/>
    <p:sldMasterId id="2147483999" r:id="rId2"/>
  </p:sldMasterIdLst>
  <p:notesMasterIdLst>
    <p:notesMasterId r:id="rId20"/>
  </p:notesMasterIdLst>
  <p:handoutMasterIdLst>
    <p:handoutMasterId r:id="rId21"/>
  </p:handoutMasterIdLst>
  <p:sldIdLst>
    <p:sldId id="375" r:id="rId3"/>
    <p:sldId id="388" r:id="rId4"/>
    <p:sldId id="390" r:id="rId5"/>
    <p:sldId id="391" r:id="rId6"/>
    <p:sldId id="392" r:id="rId7"/>
    <p:sldId id="393" r:id="rId8"/>
    <p:sldId id="394" r:id="rId9"/>
    <p:sldId id="395" r:id="rId10"/>
    <p:sldId id="396" r:id="rId11"/>
    <p:sldId id="397" r:id="rId12"/>
    <p:sldId id="398" r:id="rId13"/>
    <p:sldId id="399" r:id="rId14"/>
    <p:sldId id="400" r:id="rId15"/>
    <p:sldId id="401" r:id="rId16"/>
    <p:sldId id="402" r:id="rId17"/>
    <p:sldId id="389" r:id="rId18"/>
    <p:sldId id="403" r:id="rId1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89CE"/>
    <a:srgbClr val="244463"/>
    <a:srgbClr val="023C67"/>
    <a:srgbClr val="89A5B3"/>
    <a:srgbClr val="B8B7B3"/>
    <a:srgbClr val="A94E3C"/>
    <a:srgbClr val="FF66FF"/>
    <a:srgbClr val="008000"/>
    <a:srgbClr val="FFFFFF"/>
    <a:srgbClr val="0201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10" autoAdjust="0"/>
    <p:restoredTop sz="68280" autoAdjust="0"/>
  </p:normalViewPr>
  <p:slideViewPr>
    <p:cSldViewPr>
      <p:cViewPr>
        <p:scale>
          <a:sx n="108" d="100"/>
          <a:sy n="108" d="100"/>
        </p:scale>
        <p:origin x="3148"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5" d="100"/>
        <a:sy n="95" d="100"/>
      </p:scale>
      <p:origin x="0" y="0"/>
    </p:cViewPr>
  </p:sorterViewPr>
  <p:notesViewPr>
    <p:cSldViewPr>
      <p:cViewPr varScale="1">
        <p:scale>
          <a:sx n="52" d="100"/>
          <a:sy n="52" d="100"/>
        </p:scale>
        <p:origin x="2676" y="5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3BAE30-C826-40CF-B878-802787FCA299}" type="doc">
      <dgm:prSet loTypeId="urn:microsoft.com/office/officeart/2005/8/layout/process2" loCatId="process" qsTypeId="urn:microsoft.com/office/officeart/2005/8/quickstyle/simple1" qsCatId="simple" csTypeId="urn:microsoft.com/office/officeart/2005/8/colors/accent2_1" csCatId="accent2" phldr="1"/>
      <dgm:spPr/>
      <dgm:t>
        <a:bodyPr/>
        <a:lstStyle/>
        <a:p>
          <a:endParaRPr lang="en-US"/>
        </a:p>
      </dgm:t>
    </dgm:pt>
    <dgm:pt modelId="{04DBC465-E6D6-4838-8D21-D1E35B4292C3}">
      <dgm:prSet phldrT="[Text]"/>
      <dgm:spPr/>
      <dgm:t>
        <a:bodyPr/>
        <a:lstStyle/>
        <a:p>
          <a:r>
            <a:rPr lang="en-US" dirty="0"/>
            <a:t>Objective</a:t>
          </a:r>
        </a:p>
      </dgm:t>
    </dgm:pt>
    <dgm:pt modelId="{4A1BA7EF-DDAA-4276-B878-7CD89F494F02}" type="parTrans" cxnId="{ECDC786D-2158-449C-B950-30E5AF7DB007}">
      <dgm:prSet/>
      <dgm:spPr/>
      <dgm:t>
        <a:bodyPr/>
        <a:lstStyle/>
        <a:p>
          <a:endParaRPr lang="en-US"/>
        </a:p>
      </dgm:t>
    </dgm:pt>
    <dgm:pt modelId="{8DD67694-F62D-4286-B62D-C183C3E458CC}" type="sibTrans" cxnId="{ECDC786D-2158-449C-B950-30E5AF7DB007}">
      <dgm:prSet/>
      <dgm:spPr/>
      <dgm:t>
        <a:bodyPr/>
        <a:lstStyle/>
        <a:p>
          <a:endParaRPr lang="en-US"/>
        </a:p>
      </dgm:t>
    </dgm:pt>
    <dgm:pt modelId="{D8049099-93D4-4FFC-ACF9-07A89A353FA9}">
      <dgm:prSet phldrT="[Text]"/>
      <dgm:spPr/>
      <dgm:t>
        <a:bodyPr/>
        <a:lstStyle/>
        <a:p>
          <a:r>
            <a:rPr lang="en-US" dirty="0"/>
            <a:t>Gameplay</a:t>
          </a:r>
        </a:p>
      </dgm:t>
    </dgm:pt>
    <dgm:pt modelId="{A8645379-3D91-4A3A-B6B5-F17445F5F44E}" type="parTrans" cxnId="{53FD4A51-B983-44CE-B05A-42419FFCD7FC}">
      <dgm:prSet/>
      <dgm:spPr/>
      <dgm:t>
        <a:bodyPr/>
        <a:lstStyle/>
        <a:p>
          <a:endParaRPr lang="en-US"/>
        </a:p>
      </dgm:t>
    </dgm:pt>
    <dgm:pt modelId="{148D0FEA-569D-4140-B197-27A0B446BA00}" type="sibTrans" cxnId="{53FD4A51-B983-44CE-B05A-42419FFCD7FC}">
      <dgm:prSet/>
      <dgm:spPr/>
      <dgm:t>
        <a:bodyPr/>
        <a:lstStyle/>
        <a:p>
          <a:endParaRPr lang="en-US"/>
        </a:p>
      </dgm:t>
    </dgm:pt>
    <dgm:pt modelId="{D748CDDE-13E3-484B-A589-C8AC662E23FA}">
      <dgm:prSet phldrT="[Text]"/>
      <dgm:spPr/>
      <dgm:t>
        <a:bodyPr/>
        <a:lstStyle/>
        <a:p>
          <a:r>
            <a:rPr lang="en-US" dirty="0"/>
            <a:t>UI</a:t>
          </a:r>
        </a:p>
      </dgm:t>
    </dgm:pt>
    <dgm:pt modelId="{F224E678-E72D-4911-9130-C5F70ECB363A}" type="parTrans" cxnId="{D5FF6768-0E6D-4E9F-8CE4-B18DBB422B3D}">
      <dgm:prSet/>
      <dgm:spPr/>
      <dgm:t>
        <a:bodyPr/>
        <a:lstStyle/>
        <a:p>
          <a:endParaRPr lang="en-US"/>
        </a:p>
      </dgm:t>
    </dgm:pt>
    <dgm:pt modelId="{9962DF13-F8F3-425E-9EE5-86FB52791A92}" type="sibTrans" cxnId="{D5FF6768-0E6D-4E9F-8CE4-B18DBB422B3D}">
      <dgm:prSet/>
      <dgm:spPr/>
      <dgm:t>
        <a:bodyPr/>
        <a:lstStyle/>
        <a:p>
          <a:endParaRPr lang="en-US"/>
        </a:p>
      </dgm:t>
    </dgm:pt>
    <dgm:pt modelId="{778E45AC-4516-4794-A21D-A8A9C9DE8198}">
      <dgm:prSet phldrT="[Text]"/>
      <dgm:spPr/>
      <dgm:t>
        <a:bodyPr/>
        <a:lstStyle/>
        <a:p>
          <a:r>
            <a:rPr lang="en-US" dirty="0"/>
            <a:t>Implementation</a:t>
          </a:r>
        </a:p>
      </dgm:t>
    </dgm:pt>
    <dgm:pt modelId="{CEC89BD2-BDEA-4915-8952-089BC4F51807}" type="parTrans" cxnId="{D23D32CC-EBF1-4B5D-AC2D-CD31F9F978AC}">
      <dgm:prSet/>
      <dgm:spPr/>
      <dgm:t>
        <a:bodyPr/>
        <a:lstStyle/>
        <a:p>
          <a:endParaRPr lang="en-US"/>
        </a:p>
      </dgm:t>
    </dgm:pt>
    <dgm:pt modelId="{34B19346-225F-4E37-BE07-9B553F765010}" type="sibTrans" cxnId="{D23D32CC-EBF1-4B5D-AC2D-CD31F9F978AC}">
      <dgm:prSet/>
      <dgm:spPr/>
      <dgm:t>
        <a:bodyPr/>
        <a:lstStyle/>
        <a:p>
          <a:endParaRPr lang="en-US"/>
        </a:p>
      </dgm:t>
    </dgm:pt>
    <dgm:pt modelId="{B032F893-A49B-4A8C-AD67-A68B427DA30A}">
      <dgm:prSet phldrT="[Text]"/>
      <dgm:spPr/>
      <dgm:t>
        <a:bodyPr/>
        <a:lstStyle/>
        <a:p>
          <a:r>
            <a:rPr lang="en-US" dirty="0"/>
            <a:t>Delivery</a:t>
          </a:r>
        </a:p>
      </dgm:t>
    </dgm:pt>
    <dgm:pt modelId="{9610FF96-7F70-4EE4-8B5A-E2FD29EC15B6}" type="parTrans" cxnId="{00CFFE76-FFFD-487A-9F5A-11A30CB3DA78}">
      <dgm:prSet/>
      <dgm:spPr/>
      <dgm:t>
        <a:bodyPr/>
        <a:lstStyle/>
        <a:p>
          <a:endParaRPr lang="en-US"/>
        </a:p>
      </dgm:t>
    </dgm:pt>
    <dgm:pt modelId="{78B7140C-8C30-4D46-A02D-11961D982209}" type="sibTrans" cxnId="{00CFFE76-FFFD-487A-9F5A-11A30CB3DA78}">
      <dgm:prSet/>
      <dgm:spPr/>
      <dgm:t>
        <a:bodyPr/>
        <a:lstStyle/>
        <a:p>
          <a:endParaRPr lang="en-US"/>
        </a:p>
      </dgm:t>
    </dgm:pt>
    <dgm:pt modelId="{36AAF3F1-1820-4F68-8165-39511A48DC96}" type="pres">
      <dgm:prSet presAssocID="{923BAE30-C826-40CF-B878-802787FCA299}" presName="linearFlow" presStyleCnt="0">
        <dgm:presLayoutVars>
          <dgm:resizeHandles val="exact"/>
        </dgm:presLayoutVars>
      </dgm:prSet>
      <dgm:spPr/>
    </dgm:pt>
    <dgm:pt modelId="{60DC6496-E8B6-4361-8DBF-82F56FBAA590}" type="pres">
      <dgm:prSet presAssocID="{04DBC465-E6D6-4838-8D21-D1E35B4292C3}" presName="node" presStyleLbl="node1" presStyleIdx="0" presStyleCnt="5">
        <dgm:presLayoutVars>
          <dgm:bulletEnabled val="1"/>
        </dgm:presLayoutVars>
      </dgm:prSet>
      <dgm:spPr/>
    </dgm:pt>
    <dgm:pt modelId="{033E6F2F-AD77-440C-BD9C-F0E7F31984C6}" type="pres">
      <dgm:prSet presAssocID="{8DD67694-F62D-4286-B62D-C183C3E458CC}" presName="sibTrans" presStyleLbl="sibTrans2D1" presStyleIdx="0" presStyleCnt="4"/>
      <dgm:spPr/>
    </dgm:pt>
    <dgm:pt modelId="{00298900-07E1-4822-A876-89F9E875048A}" type="pres">
      <dgm:prSet presAssocID="{8DD67694-F62D-4286-B62D-C183C3E458CC}" presName="connectorText" presStyleLbl="sibTrans2D1" presStyleIdx="0" presStyleCnt="4"/>
      <dgm:spPr/>
    </dgm:pt>
    <dgm:pt modelId="{4EBF4827-19C4-479B-B86C-5530E66452CD}" type="pres">
      <dgm:prSet presAssocID="{D8049099-93D4-4FFC-ACF9-07A89A353FA9}" presName="node" presStyleLbl="node1" presStyleIdx="1" presStyleCnt="5">
        <dgm:presLayoutVars>
          <dgm:bulletEnabled val="1"/>
        </dgm:presLayoutVars>
      </dgm:prSet>
      <dgm:spPr/>
    </dgm:pt>
    <dgm:pt modelId="{EE9CF792-EC3D-4EC0-9982-A5790F3C4E45}" type="pres">
      <dgm:prSet presAssocID="{148D0FEA-569D-4140-B197-27A0B446BA00}" presName="sibTrans" presStyleLbl="sibTrans2D1" presStyleIdx="1" presStyleCnt="4"/>
      <dgm:spPr/>
    </dgm:pt>
    <dgm:pt modelId="{DDD8B279-B824-419B-98D4-690BF7261225}" type="pres">
      <dgm:prSet presAssocID="{148D0FEA-569D-4140-B197-27A0B446BA00}" presName="connectorText" presStyleLbl="sibTrans2D1" presStyleIdx="1" presStyleCnt="4"/>
      <dgm:spPr/>
    </dgm:pt>
    <dgm:pt modelId="{05EABC0C-0705-4306-8D1E-5320392A5AE2}" type="pres">
      <dgm:prSet presAssocID="{D748CDDE-13E3-484B-A589-C8AC662E23FA}" presName="node" presStyleLbl="node1" presStyleIdx="2" presStyleCnt="5">
        <dgm:presLayoutVars>
          <dgm:bulletEnabled val="1"/>
        </dgm:presLayoutVars>
      </dgm:prSet>
      <dgm:spPr/>
    </dgm:pt>
    <dgm:pt modelId="{61D16D15-EDB0-406C-AB21-9925111DA9EF}" type="pres">
      <dgm:prSet presAssocID="{9962DF13-F8F3-425E-9EE5-86FB52791A92}" presName="sibTrans" presStyleLbl="sibTrans2D1" presStyleIdx="2" presStyleCnt="4"/>
      <dgm:spPr/>
    </dgm:pt>
    <dgm:pt modelId="{D8C2C7A8-BAFF-4B07-92FF-BC1DDA3AB3CE}" type="pres">
      <dgm:prSet presAssocID="{9962DF13-F8F3-425E-9EE5-86FB52791A92}" presName="connectorText" presStyleLbl="sibTrans2D1" presStyleIdx="2" presStyleCnt="4"/>
      <dgm:spPr/>
    </dgm:pt>
    <dgm:pt modelId="{E4FA1B85-3B79-4789-BF0E-6D5F8D2E039B}" type="pres">
      <dgm:prSet presAssocID="{778E45AC-4516-4794-A21D-A8A9C9DE8198}" presName="node" presStyleLbl="node1" presStyleIdx="3" presStyleCnt="5">
        <dgm:presLayoutVars>
          <dgm:bulletEnabled val="1"/>
        </dgm:presLayoutVars>
      </dgm:prSet>
      <dgm:spPr/>
    </dgm:pt>
    <dgm:pt modelId="{940EE987-EA4F-4B08-91C5-792ACF08AB9B}" type="pres">
      <dgm:prSet presAssocID="{34B19346-225F-4E37-BE07-9B553F765010}" presName="sibTrans" presStyleLbl="sibTrans2D1" presStyleIdx="3" presStyleCnt="4"/>
      <dgm:spPr/>
    </dgm:pt>
    <dgm:pt modelId="{D77089FD-A997-42BF-B032-04DB94E5CB7A}" type="pres">
      <dgm:prSet presAssocID="{34B19346-225F-4E37-BE07-9B553F765010}" presName="connectorText" presStyleLbl="sibTrans2D1" presStyleIdx="3" presStyleCnt="4"/>
      <dgm:spPr/>
    </dgm:pt>
    <dgm:pt modelId="{82831BA1-F2C4-4004-B373-E17CDCAEC287}" type="pres">
      <dgm:prSet presAssocID="{B032F893-A49B-4A8C-AD67-A68B427DA30A}" presName="node" presStyleLbl="node1" presStyleIdx="4" presStyleCnt="5">
        <dgm:presLayoutVars>
          <dgm:bulletEnabled val="1"/>
        </dgm:presLayoutVars>
      </dgm:prSet>
      <dgm:spPr/>
    </dgm:pt>
  </dgm:ptLst>
  <dgm:cxnLst>
    <dgm:cxn modelId="{0ED1700A-2841-4026-8E91-F8145EA96595}" type="presOf" srcId="{9962DF13-F8F3-425E-9EE5-86FB52791A92}" destId="{D8C2C7A8-BAFF-4B07-92FF-BC1DDA3AB3CE}" srcOrd="1" destOrd="0" presId="urn:microsoft.com/office/officeart/2005/8/layout/process2"/>
    <dgm:cxn modelId="{9FD2010E-0000-4100-A1BF-0DC866222D9A}" type="presOf" srcId="{D748CDDE-13E3-484B-A589-C8AC662E23FA}" destId="{05EABC0C-0705-4306-8D1E-5320392A5AE2}" srcOrd="0" destOrd="0" presId="urn:microsoft.com/office/officeart/2005/8/layout/process2"/>
    <dgm:cxn modelId="{A17B0815-C53B-4B1F-A482-7C53F24A5337}" type="presOf" srcId="{148D0FEA-569D-4140-B197-27A0B446BA00}" destId="{DDD8B279-B824-419B-98D4-690BF7261225}" srcOrd="1" destOrd="0" presId="urn:microsoft.com/office/officeart/2005/8/layout/process2"/>
    <dgm:cxn modelId="{1B11C727-0567-46E8-B4DD-2FFC47C5C2A4}" type="presOf" srcId="{778E45AC-4516-4794-A21D-A8A9C9DE8198}" destId="{E4FA1B85-3B79-4789-BF0E-6D5F8D2E039B}" srcOrd="0" destOrd="0" presId="urn:microsoft.com/office/officeart/2005/8/layout/process2"/>
    <dgm:cxn modelId="{61699930-A8E0-40B7-9BF9-46B0AABB0066}" type="presOf" srcId="{923BAE30-C826-40CF-B878-802787FCA299}" destId="{36AAF3F1-1820-4F68-8165-39511A48DC96}" srcOrd="0" destOrd="0" presId="urn:microsoft.com/office/officeart/2005/8/layout/process2"/>
    <dgm:cxn modelId="{F48D125D-E739-4C3E-A2DA-8B25D32C5128}" type="presOf" srcId="{8DD67694-F62D-4286-B62D-C183C3E458CC}" destId="{00298900-07E1-4822-A876-89F9E875048A}" srcOrd="1" destOrd="0" presId="urn:microsoft.com/office/officeart/2005/8/layout/process2"/>
    <dgm:cxn modelId="{D5FF6768-0E6D-4E9F-8CE4-B18DBB422B3D}" srcId="{923BAE30-C826-40CF-B878-802787FCA299}" destId="{D748CDDE-13E3-484B-A589-C8AC662E23FA}" srcOrd="2" destOrd="0" parTransId="{F224E678-E72D-4911-9130-C5F70ECB363A}" sibTransId="{9962DF13-F8F3-425E-9EE5-86FB52791A92}"/>
    <dgm:cxn modelId="{ECDC786D-2158-449C-B950-30E5AF7DB007}" srcId="{923BAE30-C826-40CF-B878-802787FCA299}" destId="{04DBC465-E6D6-4838-8D21-D1E35B4292C3}" srcOrd="0" destOrd="0" parTransId="{4A1BA7EF-DDAA-4276-B878-7CD89F494F02}" sibTransId="{8DD67694-F62D-4286-B62D-C183C3E458CC}"/>
    <dgm:cxn modelId="{53FD4A51-B983-44CE-B05A-42419FFCD7FC}" srcId="{923BAE30-C826-40CF-B878-802787FCA299}" destId="{D8049099-93D4-4FFC-ACF9-07A89A353FA9}" srcOrd="1" destOrd="0" parTransId="{A8645379-3D91-4A3A-B6B5-F17445F5F44E}" sibTransId="{148D0FEA-569D-4140-B197-27A0B446BA00}"/>
    <dgm:cxn modelId="{00CFFE76-FFFD-487A-9F5A-11A30CB3DA78}" srcId="{923BAE30-C826-40CF-B878-802787FCA299}" destId="{B032F893-A49B-4A8C-AD67-A68B427DA30A}" srcOrd="4" destOrd="0" parTransId="{9610FF96-7F70-4EE4-8B5A-E2FD29EC15B6}" sibTransId="{78B7140C-8C30-4D46-A02D-11961D982209}"/>
    <dgm:cxn modelId="{F8EEEB78-0C07-42A0-BF2A-15B6C2A583B4}" type="presOf" srcId="{D8049099-93D4-4FFC-ACF9-07A89A353FA9}" destId="{4EBF4827-19C4-479B-B86C-5530E66452CD}" srcOrd="0" destOrd="0" presId="urn:microsoft.com/office/officeart/2005/8/layout/process2"/>
    <dgm:cxn modelId="{D70B2AA6-AE15-4D31-8504-4C2127A81187}" type="presOf" srcId="{34B19346-225F-4E37-BE07-9B553F765010}" destId="{940EE987-EA4F-4B08-91C5-792ACF08AB9B}" srcOrd="0" destOrd="0" presId="urn:microsoft.com/office/officeart/2005/8/layout/process2"/>
    <dgm:cxn modelId="{DE6A60BE-3338-4457-849D-66AB1AEDFCF4}" type="presOf" srcId="{B032F893-A49B-4A8C-AD67-A68B427DA30A}" destId="{82831BA1-F2C4-4004-B373-E17CDCAEC287}" srcOrd="0" destOrd="0" presId="urn:microsoft.com/office/officeart/2005/8/layout/process2"/>
    <dgm:cxn modelId="{3354A0C4-C291-4A23-853C-9EA47DDECC95}" type="presOf" srcId="{34B19346-225F-4E37-BE07-9B553F765010}" destId="{D77089FD-A997-42BF-B032-04DB94E5CB7A}" srcOrd="1" destOrd="0" presId="urn:microsoft.com/office/officeart/2005/8/layout/process2"/>
    <dgm:cxn modelId="{444640C9-B037-40C2-AF46-50A88E821D51}" type="presOf" srcId="{04DBC465-E6D6-4838-8D21-D1E35B4292C3}" destId="{60DC6496-E8B6-4361-8DBF-82F56FBAA590}" srcOrd="0" destOrd="0" presId="urn:microsoft.com/office/officeart/2005/8/layout/process2"/>
    <dgm:cxn modelId="{D23D32CC-EBF1-4B5D-AC2D-CD31F9F978AC}" srcId="{923BAE30-C826-40CF-B878-802787FCA299}" destId="{778E45AC-4516-4794-A21D-A8A9C9DE8198}" srcOrd="3" destOrd="0" parTransId="{CEC89BD2-BDEA-4915-8952-089BC4F51807}" sibTransId="{34B19346-225F-4E37-BE07-9B553F765010}"/>
    <dgm:cxn modelId="{83C5D8D0-39CC-472A-9F1B-1ED9580D3EF9}" type="presOf" srcId="{148D0FEA-569D-4140-B197-27A0B446BA00}" destId="{EE9CF792-EC3D-4EC0-9982-A5790F3C4E45}" srcOrd="0" destOrd="0" presId="urn:microsoft.com/office/officeart/2005/8/layout/process2"/>
    <dgm:cxn modelId="{BB521DE2-6CFD-4C69-A024-802FA0A25AB5}" type="presOf" srcId="{8DD67694-F62D-4286-B62D-C183C3E458CC}" destId="{033E6F2F-AD77-440C-BD9C-F0E7F31984C6}" srcOrd="0" destOrd="0" presId="urn:microsoft.com/office/officeart/2005/8/layout/process2"/>
    <dgm:cxn modelId="{2820E0ED-DB30-4E4C-A258-C8D99CF90C5A}" type="presOf" srcId="{9962DF13-F8F3-425E-9EE5-86FB52791A92}" destId="{61D16D15-EDB0-406C-AB21-9925111DA9EF}" srcOrd="0" destOrd="0" presId="urn:microsoft.com/office/officeart/2005/8/layout/process2"/>
    <dgm:cxn modelId="{396B7135-B6DC-4215-BDDF-159FFE033436}" type="presParOf" srcId="{36AAF3F1-1820-4F68-8165-39511A48DC96}" destId="{60DC6496-E8B6-4361-8DBF-82F56FBAA590}" srcOrd="0" destOrd="0" presId="urn:microsoft.com/office/officeart/2005/8/layout/process2"/>
    <dgm:cxn modelId="{F8BF5445-73DD-442A-B596-21D422008F83}" type="presParOf" srcId="{36AAF3F1-1820-4F68-8165-39511A48DC96}" destId="{033E6F2F-AD77-440C-BD9C-F0E7F31984C6}" srcOrd="1" destOrd="0" presId="urn:microsoft.com/office/officeart/2005/8/layout/process2"/>
    <dgm:cxn modelId="{3497872F-0679-4763-A22B-21DB381AC103}" type="presParOf" srcId="{033E6F2F-AD77-440C-BD9C-F0E7F31984C6}" destId="{00298900-07E1-4822-A876-89F9E875048A}" srcOrd="0" destOrd="0" presId="urn:microsoft.com/office/officeart/2005/8/layout/process2"/>
    <dgm:cxn modelId="{B7B8B501-E44B-48F4-87A3-2414DAEB7194}" type="presParOf" srcId="{36AAF3F1-1820-4F68-8165-39511A48DC96}" destId="{4EBF4827-19C4-479B-B86C-5530E66452CD}" srcOrd="2" destOrd="0" presId="urn:microsoft.com/office/officeart/2005/8/layout/process2"/>
    <dgm:cxn modelId="{B57C6223-AF4E-4C68-B92E-0260EAB3BA06}" type="presParOf" srcId="{36AAF3F1-1820-4F68-8165-39511A48DC96}" destId="{EE9CF792-EC3D-4EC0-9982-A5790F3C4E45}" srcOrd="3" destOrd="0" presId="urn:microsoft.com/office/officeart/2005/8/layout/process2"/>
    <dgm:cxn modelId="{2047BD29-E786-497B-AF6D-BE7A3E700034}" type="presParOf" srcId="{EE9CF792-EC3D-4EC0-9982-A5790F3C4E45}" destId="{DDD8B279-B824-419B-98D4-690BF7261225}" srcOrd="0" destOrd="0" presId="urn:microsoft.com/office/officeart/2005/8/layout/process2"/>
    <dgm:cxn modelId="{9ED04564-0C34-41B3-9184-2159CAED2132}" type="presParOf" srcId="{36AAF3F1-1820-4F68-8165-39511A48DC96}" destId="{05EABC0C-0705-4306-8D1E-5320392A5AE2}" srcOrd="4" destOrd="0" presId="urn:microsoft.com/office/officeart/2005/8/layout/process2"/>
    <dgm:cxn modelId="{58106CD1-563A-4257-B658-66A2106482E0}" type="presParOf" srcId="{36AAF3F1-1820-4F68-8165-39511A48DC96}" destId="{61D16D15-EDB0-406C-AB21-9925111DA9EF}" srcOrd="5" destOrd="0" presId="urn:microsoft.com/office/officeart/2005/8/layout/process2"/>
    <dgm:cxn modelId="{A012164B-86CF-44CB-A95D-CEA18E595B69}" type="presParOf" srcId="{61D16D15-EDB0-406C-AB21-9925111DA9EF}" destId="{D8C2C7A8-BAFF-4B07-92FF-BC1DDA3AB3CE}" srcOrd="0" destOrd="0" presId="urn:microsoft.com/office/officeart/2005/8/layout/process2"/>
    <dgm:cxn modelId="{EDFFBF24-BA7B-48F9-94EE-6B211DD99D69}" type="presParOf" srcId="{36AAF3F1-1820-4F68-8165-39511A48DC96}" destId="{E4FA1B85-3B79-4789-BF0E-6D5F8D2E039B}" srcOrd="6" destOrd="0" presId="urn:microsoft.com/office/officeart/2005/8/layout/process2"/>
    <dgm:cxn modelId="{315CFD79-8252-4D99-A867-1B6A301FAC81}" type="presParOf" srcId="{36AAF3F1-1820-4F68-8165-39511A48DC96}" destId="{940EE987-EA4F-4B08-91C5-792ACF08AB9B}" srcOrd="7" destOrd="0" presId="urn:microsoft.com/office/officeart/2005/8/layout/process2"/>
    <dgm:cxn modelId="{2740BCDC-8861-4F84-8656-4C5CA3AE1742}" type="presParOf" srcId="{940EE987-EA4F-4B08-91C5-792ACF08AB9B}" destId="{D77089FD-A997-42BF-B032-04DB94E5CB7A}" srcOrd="0" destOrd="0" presId="urn:microsoft.com/office/officeart/2005/8/layout/process2"/>
    <dgm:cxn modelId="{D8DE6DDE-9D4E-4683-805B-3D486BAE0433}" type="presParOf" srcId="{36AAF3F1-1820-4F68-8165-39511A48DC96}" destId="{82831BA1-F2C4-4004-B373-E17CDCAEC287}" srcOrd="8"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C6496-E8B6-4361-8DBF-82F56FBAA590}">
      <dsp:nvSpPr>
        <dsp:cNvPr id="0" name=""/>
        <dsp:cNvSpPr/>
      </dsp:nvSpPr>
      <dsp:spPr>
        <a:xfrm>
          <a:off x="799979" y="520"/>
          <a:ext cx="1752841" cy="609451"/>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Objective</a:t>
          </a:r>
        </a:p>
      </dsp:txBody>
      <dsp:txXfrm>
        <a:off x="817829" y="18370"/>
        <a:ext cx="1717141" cy="573751"/>
      </dsp:txXfrm>
    </dsp:sp>
    <dsp:sp modelId="{033E6F2F-AD77-440C-BD9C-F0E7F31984C6}">
      <dsp:nvSpPr>
        <dsp:cNvPr id="0" name=""/>
        <dsp:cNvSpPr/>
      </dsp:nvSpPr>
      <dsp:spPr>
        <a:xfrm rot="5400000">
          <a:off x="1562127" y="625208"/>
          <a:ext cx="228544" cy="274253"/>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1594124" y="648063"/>
        <a:ext cx="164551" cy="159981"/>
      </dsp:txXfrm>
    </dsp:sp>
    <dsp:sp modelId="{4EBF4827-19C4-479B-B86C-5530E66452CD}">
      <dsp:nvSpPr>
        <dsp:cNvPr id="0" name=""/>
        <dsp:cNvSpPr/>
      </dsp:nvSpPr>
      <dsp:spPr>
        <a:xfrm>
          <a:off x="799979" y="914697"/>
          <a:ext cx="1752841" cy="609451"/>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Gameplay</a:t>
          </a:r>
        </a:p>
      </dsp:txBody>
      <dsp:txXfrm>
        <a:off x="817829" y="932547"/>
        <a:ext cx="1717141" cy="573751"/>
      </dsp:txXfrm>
    </dsp:sp>
    <dsp:sp modelId="{EE9CF792-EC3D-4EC0-9982-A5790F3C4E45}">
      <dsp:nvSpPr>
        <dsp:cNvPr id="0" name=""/>
        <dsp:cNvSpPr/>
      </dsp:nvSpPr>
      <dsp:spPr>
        <a:xfrm rot="5400000">
          <a:off x="1562127" y="1539385"/>
          <a:ext cx="228544" cy="274253"/>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1594124" y="1562240"/>
        <a:ext cx="164551" cy="159981"/>
      </dsp:txXfrm>
    </dsp:sp>
    <dsp:sp modelId="{05EABC0C-0705-4306-8D1E-5320392A5AE2}">
      <dsp:nvSpPr>
        <dsp:cNvPr id="0" name=""/>
        <dsp:cNvSpPr/>
      </dsp:nvSpPr>
      <dsp:spPr>
        <a:xfrm>
          <a:off x="799979" y="1828874"/>
          <a:ext cx="1752841" cy="609451"/>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UI</a:t>
          </a:r>
        </a:p>
      </dsp:txBody>
      <dsp:txXfrm>
        <a:off x="817829" y="1846724"/>
        <a:ext cx="1717141" cy="573751"/>
      </dsp:txXfrm>
    </dsp:sp>
    <dsp:sp modelId="{61D16D15-EDB0-406C-AB21-9925111DA9EF}">
      <dsp:nvSpPr>
        <dsp:cNvPr id="0" name=""/>
        <dsp:cNvSpPr/>
      </dsp:nvSpPr>
      <dsp:spPr>
        <a:xfrm rot="5400000">
          <a:off x="1562127" y="2453561"/>
          <a:ext cx="228544" cy="274253"/>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1594124" y="2476416"/>
        <a:ext cx="164551" cy="159981"/>
      </dsp:txXfrm>
    </dsp:sp>
    <dsp:sp modelId="{E4FA1B85-3B79-4789-BF0E-6D5F8D2E039B}">
      <dsp:nvSpPr>
        <dsp:cNvPr id="0" name=""/>
        <dsp:cNvSpPr/>
      </dsp:nvSpPr>
      <dsp:spPr>
        <a:xfrm>
          <a:off x="799979" y="2743051"/>
          <a:ext cx="1752841" cy="609451"/>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Implementation</a:t>
          </a:r>
        </a:p>
      </dsp:txBody>
      <dsp:txXfrm>
        <a:off x="817829" y="2760901"/>
        <a:ext cx="1717141" cy="573751"/>
      </dsp:txXfrm>
    </dsp:sp>
    <dsp:sp modelId="{940EE987-EA4F-4B08-91C5-792ACF08AB9B}">
      <dsp:nvSpPr>
        <dsp:cNvPr id="0" name=""/>
        <dsp:cNvSpPr/>
      </dsp:nvSpPr>
      <dsp:spPr>
        <a:xfrm rot="5400000">
          <a:off x="1562127" y="3367738"/>
          <a:ext cx="228544" cy="274253"/>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1594124" y="3390593"/>
        <a:ext cx="164551" cy="159981"/>
      </dsp:txXfrm>
    </dsp:sp>
    <dsp:sp modelId="{82831BA1-F2C4-4004-B373-E17CDCAEC287}">
      <dsp:nvSpPr>
        <dsp:cNvPr id="0" name=""/>
        <dsp:cNvSpPr/>
      </dsp:nvSpPr>
      <dsp:spPr>
        <a:xfrm>
          <a:off x="799979" y="3657227"/>
          <a:ext cx="1752841" cy="609451"/>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Delivery</a:t>
          </a:r>
        </a:p>
      </dsp:txBody>
      <dsp:txXfrm>
        <a:off x="817829" y="3675077"/>
        <a:ext cx="1717141" cy="573751"/>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charset="0"/>
                <a:cs typeface="Arial" charset="0"/>
              </a:defRPr>
            </a:lvl1pPr>
          </a:lstStyle>
          <a:p>
            <a:pPr>
              <a:defRPr/>
            </a:pPr>
            <a:endParaRPr lang="en-US" dirty="0">
              <a:latin typeface="Calibri" panose="020F050202020403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Arial" charset="0"/>
              </a:defRPr>
            </a:lvl1pPr>
          </a:lstStyle>
          <a:p>
            <a:pPr>
              <a:defRPr/>
            </a:pPr>
            <a:fld id="{BC036855-82F2-436C-A629-04257E0838EC}" type="datetimeFigureOut">
              <a:rPr lang="en-US">
                <a:latin typeface="Calibri" panose="020F0502020204030204" pitchFamily="34" charset="0"/>
              </a:rPr>
              <a:pPr>
                <a:defRPr/>
              </a:pPr>
              <a:t>11/10/2025</a:t>
            </a:fld>
            <a:endParaRPr lang="en-US" dirty="0">
              <a:latin typeface="Calibri" panose="020F050202020403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charset="0"/>
                <a:cs typeface="Arial" charset="0"/>
              </a:defRPr>
            </a:lvl1pPr>
          </a:lstStyle>
          <a:p>
            <a:pPr>
              <a:defRPr/>
            </a:pPr>
            <a:endParaRPr lang="en-US" dirty="0">
              <a:latin typeface="Calibri" panose="020F050202020403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36EE4FB5-CFAB-4A0B-B794-D11E7DD06A0B}" type="slidenum">
              <a:rPr lang="en-US" altLang="en-US">
                <a:latin typeface="Calibri" panose="020F0502020204030204" pitchFamily="34" charset="0"/>
              </a:rPr>
              <a:pPr>
                <a:defRPr/>
              </a:pPr>
              <a:t>‹#›</a:t>
            </a:fld>
            <a:endParaRPr lang="en-US" altLang="en-US" dirty="0">
              <a:latin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Calibri" panose="020F0502020204030204" pitchFamily="34" charset="0"/>
                <a:cs typeface="Arial" charset="0"/>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Calibri" panose="020F0502020204030204" pitchFamily="34" charset="0"/>
                <a:cs typeface="Arial" charset="0"/>
              </a:defRPr>
            </a:lvl1pPr>
          </a:lstStyle>
          <a:p>
            <a:pPr>
              <a:defRPr/>
            </a:pPr>
            <a:fld id="{FD822C36-BB15-4EAC-91EF-61F820951536}" type="datetimeFigureOut">
              <a:rPr lang="en-US" smtClean="0"/>
              <a:pPr>
                <a:defRPr/>
              </a:pPr>
              <a:t>11/10/2025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Calibri" panose="020F0502020204030204" pitchFamily="34" charset="0"/>
                <a:cs typeface="Arial" charset="0"/>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6BC2A427-9A55-46D7-8A8D-CD61CF48BFD8}" type="slidenum">
              <a:rPr lang="en-US" altLang="en-US" smtClean="0"/>
              <a:pPr>
                <a:defRPr/>
              </a:pPr>
              <a:t>‹#›</a:t>
            </a:fld>
            <a:endParaRPr lang="en-US" altLang="en-US"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algn="l">
              <a:spcAft>
                <a:spcPts val="1200"/>
              </a:spcAft>
            </a:pPr>
            <a:r>
              <a:rPr lang="en-US" b="0" i="0" dirty="0">
                <a:solidFill>
                  <a:srgbClr val="000000"/>
                </a:solidFill>
                <a:effectLst/>
                <a:latin typeface="-apple-system"/>
              </a:rPr>
              <a:t>"Good [morning/afternoon], committee members. Thank you for your time today. I'm here to present a proposal for a new course: CISC3XX - Applied Generative AI and LLM Applications.</a:t>
            </a:r>
          </a:p>
          <a:p>
            <a:endParaRPr lang="en-US" dirty="0"/>
          </a:p>
        </p:txBody>
      </p:sp>
      <p:sp>
        <p:nvSpPr>
          <p:cNvPr id="4" name="Slide Number Placeholder 3"/>
          <p:cNvSpPr>
            <a:spLocks noGrp="1"/>
          </p:cNvSpPr>
          <p:nvPr>
            <p:ph type="sldNum" sz="quarter" idx="5"/>
          </p:nvPr>
        </p:nvSpPr>
        <p:spPr/>
        <p:txBody>
          <a:bodyPr/>
          <a:lstStyle/>
          <a:p>
            <a:pPr>
              <a:defRPr/>
            </a:pPr>
            <a:fld id="{6BC2A427-9A55-46D7-8A8D-CD61CF48BFD8}" type="slidenum">
              <a:rPr lang="en-US" altLang="en-US" smtClean="0"/>
              <a:pPr>
                <a:defRPr/>
              </a:pPr>
              <a:t>1</a:t>
            </a:fld>
            <a:endParaRPr lang="en-US" altLang="en-US" dirty="0"/>
          </a:p>
        </p:txBody>
      </p:sp>
    </p:spTree>
    <p:extLst>
      <p:ext uri="{BB962C8B-B14F-4D97-AF65-F5344CB8AC3E}">
        <p14:creationId xmlns:p14="http://schemas.microsoft.com/office/powerpoint/2010/main" val="4182604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85296-DA80-ABF6-4BCD-44008D8BE2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093C3F-99EB-469A-BBD1-B89C50C48351}"/>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3CA13D67-6102-4C86-C744-8A9D522554AE}"/>
              </a:ext>
            </a:extLst>
          </p:cNvPr>
          <p:cNvSpPr>
            <a:spLocks noGrp="1"/>
          </p:cNvSpPr>
          <p:nvPr>
            <p:ph type="body" idx="1"/>
          </p:nvPr>
        </p:nvSpPr>
        <p:spPr/>
        <p:txBody>
          <a:bodyPr>
            <a:normAutofit/>
          </a:bodyPr>
          <a:lstStyle/>
          <a:p>
            <a:pPr algn="l"/>
            <a:endParaRPr lang="en-US" b="0" i="0" dirty="0">
              <a:solidFill>
                <a:srgbClr val="333333"/>
              </a:solidFill>
              <a:effectLst/>
              <a:latin typeface="Noto Sans" panose="020B0502040504020204" pitchFamily="34" charset="0"/>
            </a:endParaRPr>
          </a:p>
        </p:txBody>
      </p:sp>
      <p:sp>
        <p:nvSpPr>
          <p:cNvPr id="4" name="Slide Number Placeholder 3">
            <a:extLst>
              <a:ext uri="{FF2B5EF4-FFF2-40B4-BE49-F238E27FC236}">
                <a16:creationId xmlns:a16="http://schemas.microsoft.com/office/drawing/2014/main" id="{2DBA1AB8-4739-87E9-1376-2553B3769E27}"/>
              </a:ext>
            </a:extLst>
          </p:cNvPr>
          <p:cNvSpPr>
            <a:spLocks noGrp="1"/>
          </p:cNvSpPr>
          <p:nvPr>
            <p:ph type="sldNum" sz="quarter" idx="5"/>
          </p:nvPr>
        </p:nvSpPr>
        <p:spPr/>
        <p:txBody>
          <a:bodyPr/>
          <a:lstStyle/>
          <a:p>
            <a:pPr>
              <a:defRPr/>
            </a:pPr>
            <a:fld id="{6BC2A427-9A55-46D7-8A8D-CD61CF48BFD8}" type="slidenum">
              <a:rPr lang="en-US" altLang="en-US" smtClean="0"/>
              <a:pPr>
                <a:defRPr/>
              </a:pPr>
              <a:t>2</a:t>
            </a:fld>
            <a:endParaRPr lang="en-US" altLang="en-US" dirty="0"/>
          </a:p>
        </p:txBody>
      </p:sp>
    </p:spTree>
    <p:extLst>
      <p:ext uri="{BB962C8B-B14F-4D97-AF65-F5344CB8AC3E}">
        <p14:creationId xmlns:p14="http://schemas.microsoft.com/office/powerpoint/2010/main" val="464694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000000"/>
                </a:solidFill>
                <a:effectLst/>
                <a:latin typeface="-apple-system"/>
              </a:rPr>
              <a:t> "Welcome, everyone! Today, we're going to talk about a fun and powerful way to create software called 'Vibe Coding.'"</a:t>
            </a:r>
          </a:p>
          <a:p>
            <a:pPr algn="l">
              <a:buFont typeface="Arial" panose="020B0604020202020204" pitchFamily="34" charset="0"/>
              <a:buChar char="•"/>
            </a:pPr>
            <a:r>
              <a:rPr lang="en-US" b="0" i="0" dirty="0">
                <a:solidFill>
                  <a:srgbClr val="000000"/>
                </a:solidFill>
                <a:effectLst/>
                <a:latin typeface="-apple-system"/>
              </a:rPr>
              <a:t>It's a development style focused on </a:t>
            </a:r>
            <a:r>
              <a:rPr lang="en-US" b="1" i="0" dirty="0">
                <a:solidFill>
                  <a:srgbClr val="000000"/>
                </a:solidFill>
                <a:effectLst/>
                <a:latin typeface="-apple-system"/>
              </a:rPr>
              <a:t>rapid iteration</a:t>
            </a:r>
            <a:r>
              <a:rPr lang="en-US" b="0" i="0" dirty="0">
                <a:solidFill>
                  <a:srgbClr val="000000"/>
                </a:solidFill>
                <a:effectLst/>
                <a:latin typeface="-apple-system"/>
              </a:rPr>
              <a:t> and getting a feel for the end product as quickly as possible.</a:t>
            </a:r>
          </a:p>
          <a:p>
            <a:pPr algn="l">
              <a:buFont typeface="Arial" panose="020B0604020202020204" pitchFamily="34" charset="0"/>
              <a:buChar char="•"/>
            </a:pPr>
            <a:r>
              <a:rPr lang="en-US" b="0" i="0" dirty="0">
                <a:solidFill>
                  <a:srgbClr val="000000"/>
                </a:solidFill>
                <a:effectLst/>
                <a:latin typeface="-apple-system"/>
              </a:rPr>
              <a:t>You act as the </a:t>
            </a:r>
            <a:r>
              <a:rPr lang="en-US" b="1" i="0" dirty="0">
                <a:solidFill>
                  <a:srgbClr val="000000"/>
                </a:solidFill>
                <a:effectLst/>
                <a:latin typeface="-apple-system"/>
              </a:rPr>
              <a:t>creative director</a:t>
            </a:r>
            <a:r>
              <a:rPr lang="en-US" b="0" i="0" dirty="0">
                <a:solidFill>
                  <a:srgbClr val="000000"/>
                </a:solidFill>
                <a:effectLst/>
                <a:latin typeface="-apple-system"/>
              </a:rPr>
              <a:t>, guiding an AI assistant (like Gemini or Copilot) to do the heavy lifting.</a:t>
            </a:r>
          </a:p>
          <a:p>
            <a:pPr algn="l">
              <a:buFont typeface="Arial" panose="020B0604020202020204" pitchFamily="34" charset="0"/>
              <a:buChar char="•"/>
            </a:pPr>
            <a:r>
              <a:rPr lang="en-US" b="0" i="0" dirty="0">
                <a:solidFill>
                  <a:srgbClr val="000000"/>
                </a:solidFill>
                <a:effectLst/>
                <a:latin typeface="-apple-system"/>
              </a:rPr>
              <a:t>The goal isn't perfect code on the first try. It's about getting a </a:t>
            </a:r>
            <a:r>
              <a:rPr lang="en-US" b="1" i="0" dirty="0">
                <a:solidFill>
                  <a:srgbClr val="000000"/>
                </a:solidFill>
                <a:effectLst/>
                <a:latin typeface="-apple-system"/>
              </a:rPr>
              <a:t>functional prototype</a:t>
            </a:r>
            <a:r>
              <a:rPr lang="en-US" b="0" i="0" dirty="0">
                <a:solidFill>
                  <a:srgbClr val="000000"/>
                </a:solidFill>
                <a:effectLst/>
                <a:latin typeface="-apple-system"/>
              </a:rPr>
              <a:t> up and running, then refining it.</a:t>
            </a:r>
          </a:p>
          <a:p>
            <a:pPr algn="l">
              <a:buFont typeface="Arial" panose="020B0604020202020204" pitchFamily="34" charset="0"/>
              <a:buChar char="•"/>
            </a:pPr>
            <a:r>
              <a:rPr lang="en-US" b="0" i="0" dirty="0">
                <a:solidFill>
                  <a:srgbClr val="000000"/>
                </a:solidFill>
                <a:effectLst/>
                <a:latin typeface="-apple-system"/>
              </a:rPr>
              <a:t>It's about capturing the "vibe" of your idea in code.</a:t>
            </a:r>
          </a:p>
          <a:p>
            <a:pPr algn="l"/>
            <a:endParaRPr lang="en-US" b="0" i="0" dirty="0">
              <a:solidFill>
                <a:srgbClr val="333333"/>
              </a:solidFill>
              <a:effectLst/>
              <a:latin typeface="Noto Sans" panose="020B0502040504020204" pitchFamily="34" charset="0"/>
            </a:endParaRPr>
          </a:p>
          <a:p>
            <a:endParaRPr lang="en-US" dirty="0"/>
          </a:p>
        </p:txBody>
      </p:sp>
      <p:sp>
        <p:nvSpPr>
          <p:cNvPr id="4" name="Slide Number Placeholder 3"/>
          <p:cNvSpPr>
            <a:spLocks noGrp="1"/>
          </p:cNvSpPr>
          <p:nvPr>
            <p:ph type="sldNum" sz="quarter" idx="5"/>
          </p:nvPr>
        </p:nvSpPr>
        <p:spPr/>
        <p:txBody>
          <a:bodyPr/>
          <a:lstStyle/>
          <a:p>
            <a:pPr>
              <a:defRPr/>
            </a:pPr>
            <a:fld id="{6BC2A427-9A55-46D7-8A8D-CD61CF48BFD8}" type="slidenum">
              <a:rPr lang="en-US" altLang="en-US" smtClean="0"/>
              <a:pPr>
                <a:defRPr/>
              </a:pPr>
              <a:t>3</a:t>
            </a:fld>
            <a:endParaRPr lang="en-US" altLang="en-US" dirty="0"/>
          </a:p>
        </p:txBody>
      </p:sp>
    </p:spTree>
    <p:extLst>
      <p:ext uri="{BB962C8B-B14F-4D97-AF65-F5344CB8AC3E}">
        <p14:creationId xmlns:p14="http://schemas.microsoft.com/office/powerpoint/2010/main" val="2762507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apple-system"/>
              </a:rPr>
              <a:t>The most critical skill in vibe coding is communication. You need to tell your AI assistant exactly what you want. This is the art of the prompt."</a:t>
            </a:r>
          </a:p>
          <a:p>
            <a:pPr algn="l">
              <a:buFont typeface="Arial" panose="020B0604020202020204" pitchFamily="34" charset="0"/>
              <a:buNone/>
            </a:pPr>
            <a:endParaRPr lang="en-US" b="0" i="0" dirty="0">
              <a:solidFill>
                <a:srgbClr val="000000"/>
              </a:solidFill>
              <a:effectLst/>
              <a:latin typeface="-apple-system"/>
            </a:endParaRPr>
          </a:p>
          <a:p>
            <a:pPr algn="l">
              <a:buFont typeface="Arial" panose="020B0604020202020204" pitchFamily="34" charset="0"/>
              <a:buNone/>
            </a:pPr>
            <a:r>
              <a:rPr lang="en-US" b="0" i="0" dirty="0">
                <a:solidFill>
                  <a:srgbClr val="000000"/>
                </a:solidFill>
                <a:effectLst/>
                <a:latin typeface="-apple-system"/>
              </a:rPr>
              <a:t>Think of yourself as a </a:t>
            </a:r>
            <a:r>
              <a:rPr lang="en-US" b="1" i="0" dirty="0">
                <a:solidFill>
                  <a:srgbClr val="000000"/>
                </a:solidFill>
                <a:effectLst/>
                <a:latin typeface="-apple-system"/>
              </a:rPr>
              <a:t>Project Manager</a:t>
            </a:r>
            <a:r>
              <a:rPr lang="en-US" b="0" i="0" dirty="0">
                <a:solidFill>
                  <a:srgbClr val="000000"/>
                </a:solidFill>
                <a:effectLst/>
                <a:latin typeface="-apple-system"/>
              </a:rPr>
              <a:t> and the AI as your </a:t>
            </a:r>
            <a:r>
              <a:rPr lang="en-US" b="1" i="0" dirty="0">
                <a:solidFill>
                  <a:srgbClr val="000000"/>
                </a:solidFill>
                <a:effectLst/>
                <a:latin typeface="-apple-system"/>
              </a:rPr>
              <a:t>Developer</a:t>
            </a:r>
            <a:r>
              <a:rPr lang="en-US" b="0" i="0" dirty="0">
                <a:solidFill>
                  <a:srgbClr val="000000"/>
                </a:solidFill>
                <a:effectLst/>
                <a:latin typeface="-apple-system"/>
              </a:rPr>
              <a:t>.</a:t>
            </a:r>
          </a:p>
          <a:p>
            <a:pPr algn="l">
              <a:buFont typeface="Arial" panose="020B0604020202020204" pitchFamily="34" charset="0"/>
              <a:buNone/>
            </a:pPr>
            <a:endParaRPr lang="en-US" b="1" i="0" dirty="0">
              <a:solidFill>
                <a:srgbClr val="000000"/>
              </a:solidFill>
              <a:effectLst/>
              <a:latin typeface="-apple-system"/>
            </a:endParaRPr>
          </a:p>
          <a:p>
            <a:pPr algn="l">
              <a:buFont typeface="Arial" panose="020B0604020202020204" pitchFamily="34" charset="0"/>
              <a:buNone/>
            </a:pPr>
            <a:r>
              <a:rPr lang="en-US" b="1" i="0" dirty="0">
                <a:solidFill>
                  <a:srgbClr val="000000"/>
                </a:solidFill>
                <a:effectLst/>
                <a:latin typeface="-apple-system"/>
              </a:rPr>
              <a:t>Good prompts are:</a:t>
            </a:r>
            <a:endParaRPr lang="en-US" b="0" i="0" dirty="0">
              <a:solidFill>
                <a:srgbClr val="000000"/>
              </a:solidFill>
              <a:effectLst/>
              <a:latin typeface="-apple-system"/>
            </a:endParaRPr>
          </a:p>
          <a:p>
            <a:pPr marL="171450" lvl="0" indent="-171450" algn="l">
              <a:buFont typeface="Wingdings" panose="05000000000000000000" pitchFamily="2" charset="2"/>
              <a:buChar char="§"/>
            </a:pPr>
            <a:r>
              <a:rPr lang="en-US" b="1" i="0" dirty="0">
                <a:solidFill>
                  <a:srgbClr val="000000"/>
                </a:solidFill>
                <a:effectLst/>
                <a:latin typeface="-apple-system"/>
              </a:rPr>
              <a:t>Clear:</a:t>
            </a:r>
            <a:r>
              <a:rPr lang="en-US" b="0" i="0" dirty="0">
                <a:solidFill>
                  <a:srgbClr val="000000"/>
                </a:solidFill>
                <a:effectLst/>
                <a:latin typeface="-apple-system"/>
              </a:rPr>
              <a:t> No ambiguity.</a:t>
            </a:r>
          </a:p>
          <a:p>
            <a:pPr marL="171450" lvl="0" indent="-171450" algn="l">
              <a:buFont typeface="Wingdings" panose="05000000000000000000" pitchFamily="2" charset="2"/>
              <a:buChar char="§"/>
            </a:pPr>
            <a:r>
              <a:rPr lang="en-US" b="1" i="0" dirty="0">
                <a:solidFill>
                  <a:srgbClr val="000000"/>
                </a:solidFill>
                <a:effectLst/>
                <a:latin typeface="-apple-system"/>
              </a:rPr>
              <a:t>Specific:</a:t>
            </a:r>
            <a:r>
              <a:rPr lang="en-US" b="0" i="0" dirty="0">
                <a:solidFill>
                  <a:srgbClr val="000000"/>
                </a:solidFill>
                <a:effectLst/>
                <a:latin typeface="-apple-system"/>
              </a:rPr>
              <a:t> Provide details (like colors, sizes, and numbers).</a:t>
            </a:r>
          </a:p>
          <a:p>
            <a:pPr marL="171450" lvl="0" indent="-171450" algn="l">
              <a:buFont typeface="Wingdings" panose="05000000000000000000" pitchFamily="2" charset="2"/>
              <a:buChar char="§"/>
            </a:pPr>
            <a:r>
              <a:rPr lang="en-US" b="1" i="0" dirty="0">
                <a:solidFill>
                  <a:srgbClr val="000000"/>
                </a:solidFill>
                <a:effectLst/>
                <a:latin typeface="-apple-system"/>
              </a:rPr>
              <a:t>Structured:</a:t>
            </a:r>
            <a:r>
              <a:rPr lang="en-US" b="0" i="0" dirty="0">
                <a:solidFill>
                  <a:srgbClr val="000000"/>
                </a:solidFill>
                <a:effectLst/>
                <a:latin typeface="-apple-system"/>
              </a:rPr>
              <a:t> Organize your thoughts into logical sections.</a:t>
            </a:r>
          </a:p>
          <a:p>
            <a:pPr marL="171450" lvl="0" indent="-171450" algn="l">
              <a:buFont typeface="Wingdings" panose="05000000000000000000" pitchFamily="2" charset="2"/>
              <a:buChar char="§"/>
            </a:pPr>
            <a:endParaRPr lang="en-US" b="0" i="0" dirty="0">
              <a:solidFill>
                <a:srgbClr val="000000"/>
              </a:solidFill>
              <a:effectLst/>
              <a:latin typeface="-apple-system"/>
            </a:endParaRPr>
          </a:p>
          <a:p>
            <a:pPr algn="l">
              <a:buFont typeface="Arial" panose="020B0604020202020204" pitchFamily="34" charset="0"/>
              <a:buNone/>
            </a:pPr>
            <a:r>
              <a:rPr lang="en-US" b="0" i="0" dirty="0">
                <a:solidFill>
                  <a:srgbClr val="000000"/>
                </a:solidFill>
                <a:effectLst/>
                <a:latin typeface="-apple-system"/>
              </a:rPr>
              <a:t>A great prompt is like a great recipe. It ensures you get the result you expect.</a:t>
            </a:r>
          </a:p>
          <a:p>
            <a:endParaRPr lang="en-US" dirty="0"/>
          </a:p>
        </p:txBody>
      </p:sp>
      <p:sp>
        <p:nvSpPr>
          <p:cNvPr id="4" name="Slide Number Placeholder 3"/>
          <p:cNvSpPr>
            <a:spLocks noGrp="1"/>
          </p:cNvSpPr>
          <p:nvPr>
            <p:ph type="sldNum" sz="quarter" idx="5"/>
          </p:nvPr>
        </p:nvSpPr>
        <p:spPr/>
        <p:txBody>
          <a:bodyPr/>
          <a:lstStyle/>
          <a:p>
            <a:pPr>
              <a:defRPr/>
            </a:pPr>
            <a:fld id="{6BC2A427-9A55-46D7-8A8D-CD61CF48BFD8}" type="slidenum">
              <a:rPr lang="en-US" altLang="en-US" smtClean="0"/>
              <a:pPr>
                <a:defRPr/>
              </a:pPr>
              <a:t>4</a:t>
            </a:fld>
            <a:endParaRPr lang="en-US" altLang="en-US" dirty="0"/>
          </a:p>
        </p:txBody>
      </p:sp>
    </p:spTree>
    <p:extLst>
      <p:ext uri="{BB962C8B-B14F-4D97-AF65-F5344CB8AC3E}">
        <p14:creationId xmlns:p14="http://schemas.microsoft.com/office/powerpoint/2010/main" val="1906103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000000"/>
                </a:solidFill>
                <a:effectLst/>
                <a:latin typeface="-apple-system"/>
              </a:rPr>
              <a:t>"To put this into practice, we're going to design a complete game by writing a single, detailed prompt. Our example will be the classic Snake game."</a:t>
            </a:r>
          </a:p>
          <a:p>
            <a:pPr algn="l">
              <a:buFont typeface="Arial" panose="020B0604020202020204" pitchFamily="34" charset="0"/>
              <a:buChar char="•"/>
            </a:pPr>
            <a:r>
              <a:rPr lang="en-US" b="0" i="0" dirty="0">
                <a:solidFill>
                  <a:srgbClr val="000000"/>
                </a:solidFill>
                <a:effectLst/>
                <a:latin typeface="-apple-system"/>
              </a:rPr>
              <a:t>We will break down our game design into five clear sections, just like a real design document.</a:t>
            </a:r>
          </a:p>
          <a:p>
            <a:pPr algn="l">
              <a:buFont typeface="Arial" panose="020B0604020202020204" pitchFamily="34" charset="0"/>
              <a:buChar char="•"/>
            </a:pPr>
            <a:r>
              <a:rPr lang="en-US" b="0" i="0" dirty="0">
                <a:solidFill>
                  <a:srgbClr val="000000"/>
                </a:solidFill>
                <a:effectLst/>
                <a:latin typeface="-apple-system"/>
              </a:rPr>
              <a:t>This process will become the blueprint for our AI to follow.</a:t>
            </a:r>
          </a:p>
          <a:p>
            <a:br>
              <a:rPr lang="en-US" dirty="0"/>
            </a:br>
            <a:endParaRPr lang="en-US" dirty="0"/>
          </a:p>
        </p:txBody>
      </p:sp>
      <p:sp>
        <p:nvSpPr>
          <p:cNvPr id="4" name="Slide Number Placeholder 3"/>
          <p:cNvSpPr>
            <a:spLocks noGrp="1"/>
          </p:cNvSpPr>
          <p:nvPr>
            <p:ph type="sldNum" sz="quarter" idx="5"/>
          </p:nvPr>
        </p:nvSpPr>
        <p:spPr/>
        <p:txBody>
          <a:bodyPr/>
          <a:lstStyle/>
          <a:p>
            <a:pPr>
              <a:defRPr/>
            </a:pPr>
            <a:fld id="{6BC2A427-9A55-46D7-8A8D-CD61CF48BFD8}" type="slidenum">
              <a:rPr lang="en-US" altLang="en-US" smtClean="0"/>
              <a:pPr>
                <a:defRPr/>
              </a:pPr>
              <a:t>5</a:t>
            </a:fld>
            <a:endParaRPr lang="en-US" altLang="en-US" dirty="0"/>
          </a:p>
        </p:txBody>
      </p:sp>
    </p:spTree>
    <p:extLst>
      <p:ext uri="{BB962C8B-B14F-4D97-AF65-F5344CB8AC3E}">
        <p14:creationId xmlns:p14="http://schemas.microsoft.com/office/powerpoint/2010/main" val="978688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228D6-B365-A23D-4939-3B5895C14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3F266-3534-EA7D-55B3-9027CC9849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86381-841D-AC49-1EB9-B65044B22095}"/>
              </a:ext>
            </a:extLst>
          </p:cNvPr>
          <p:cNvSpPr>
            <a:spLocks noGrp="1"/>
          </p:cNvSpPr>
          <p:nvPr>
            <p:ph type="body" idx="1"/>
          </p:nvPr>
        </p:nvSpPr>
        <p:spPr/>
        <p:txBody>
          <a:bodyPr/>
          <a:lstStyle/>
          <a:p>
            <a:pPr algn="l">
              <a:buFont typeface="Arial" panose="020B0604020202020204" pitchFamily="34" charset="0"/>
              <a:buChar char="•"/>
            </a:pPr>
            <a:r>
              <a:rPr lang="en-US" b="0" i="0" dirty="0">
                <a:solidFill>
                  <a:srgbClr val="000000"/>
                </a:solidFill>
                <a:effectLst/>
                <a:latin typeface="-apple-system"/>
              </a:rPr>
              <a:t>"To put this into practice, we're going to design a complete game by writing a single, detailed prompt. Our example will be the classic Snake game."</a:t>
            </a:r>
          </a:p>
          <a:p>
            <a:pPr algn="l">
              <a:buFont typeface="Arial" panose="020B0604020202020204" pitchFamily="34" charset="0"/>
              <a:buChar char="•"/>
            </a:pPr>
            <a:r>
              <a:rPr lang="en-US" b="0" i="0" dirty="0">
                <a:solidFill>
                  <a:srgbClr val="000000"/>
                </a:solidFill>
                <a:effectLst/>
                <a:latin typeface="-apple-system"/>
              </a:rPr>
              <a:t>We will break down our game design into five clear sections, just like a real design document.</a:t>
            </a:r>
          </a:p>
          <a:p>
            <a:pPr algn="l">
              <a:buFont typeface="Arial" panose="020B0604020202020204" pitchFamily="34" charset="0"/>
              <a:buChar char="•"/>
            </a:pPr>
            <a:r>
              <a:rPr lang="en-US" b="0" i="0" dirty="0">
                <a:solidFill>
                  <a:srgbClr val="000000"/>
                </a:solidFill>
                <a:effectLst/>
                <a:latin typeface="-apple-system"/>
              </a:rPr>
              <a:t>This process will become the blueprint for our AI to follow.</a:t>
            </a:r>
          </a:p>
          <a:p>
            <a:br>
              <a:rPr lang="en-US" dirty="0"/>
            </a:br>
            <a:endParaRPr lang="en-US" dirty="0"/>
          </a:p>
        </p:txBody>
      </p:sp>
      <p:sp>
        <p:nvSpPr>
          <p:cNvPr id="4" name="Slide Number Placeholder 3">
            <a:extLst>
              <a:ext uri="{FF2B5EF4-FFF2-40B4-BE49-F238E27FC236}">
                <a16:creationId xmlns:a16="http://schemas.microsoft.com/office/drawing/2014/main" id="{18B70C6A-E681-3241-2475-6626CE9C537A}"/>
              </a:ext>
            </a:extLst>
          </p:cNvPr>
          <p:cNvSpPr>
            <a:spLocks noGrp="1"/>
          </p:cNvSpPr>
          <p:nvPr>
            <p:ph type="sldNum" sz="quarter" idx="5"/>
          </p:nvPr>
        </p:nvSpPr>
        <p:spPr/>
        <p:txBody>
          <a:bodyPr/>
          <a:lstStyle/>
          <a:p>
            <a:pPr>
              <a:defRPr/>
            </a:pPr>
            <a:fld id="{6BC2A427-9A55-46D7-8A8D-CD61CF48BFD8}" type="slidenum">
              <a:rPr lang="en-US" altLang="en-US" smtClean="0"/>
              <a:pPr>
                <a:defRPr/>
              </a:pPr>
              <a:t>6</a:t>
            </a:fld>
            <a:endParaRPr lang="en-US" altLang="en-US" dirty="0"/>
          </a:p>
        </p:txBody>
      </p:sp>
    </p:spTree>
    <p:extLst>
      <p:ext uri="{BB962C8B-B14F-4D97-AF65-F5344CB8AC3E}">
        <p14:creationId xmlns:p14="http://schemas.microsoft.com/office/powerpoint/2010/main" val="3088789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000000"/>
                </a:solidFill>
                <a:effectLst/>
                <a:latin typeface="-apple-system"/>
              </a:rPr>
              <a:t>Speaker Script:</a:t>
            </a:r>
            <a:r>
              <a:rPr lang="en-US" b="0" i="0" dirty="0">
                <a:solidFill>
                  <a:srgbClr val="000000"/>
                </a:solidFill>
                <a:effectLst/>
                <a:latin typeface="-apple-system"/>
              </a:rPr>
              <a:t> "First, we need a high-level goal. What are we building? This is the objective."</a:t>
            </a:r>
          </a:p>
          <a:p>
            <a:pPr algn="l">
              <a:buFont typeface="Arial" panose="020B0604020202020204" pitchFamily="34" charset="0"/>
              <a:buChar char="•"/>
            </a:pPr>
            <a:r>
              <a:rPr lang="en-US" b="0" i="0" dirty="0">
                <a:solidFill>
                  <a:srgbClr val="000000"/>
                </a:solidFill>
                <a:effectLst/>
                <a:latin typeface="-apple-system"/>
              </a:rPr>
              <a:t>It's a simple, one-sentence summary of the project.</a:t>
            </a:r>
          </a:p>
          <a:p>
            <a:endParaRPr lang="en-US" dirty="0"/>
          </a:p>
          <a:p>
            <a:pPr algn="l">
              <a:buFont typeface="Arial" panose="020B0604020202020204" pitchFamily="34" charset="0"/>
              <a:buChar char="•"/>
            </a:pPr>
            <a:r>
              <a:rPr lang="en-US" b="1" i="0" dirty="0">
                <a:solidFill>
                  <a:srgbClr val="000000"/>
                </a:solidFill>
                <a:effectLst/>
                <a:latin typeface="-apple-system"/>
              </a:rPr>
              <a:t>Our Objective:</a:t>
            </a:r>
            <a:endParaRPr lang="en-US" b="0" i="0" dirty="0">
              <a:solidFill>
                <a:srgbClr val="000000"/>
              </a:solidFill>
              <a:effectLst/>
              <a:latin typeface="-apple-system"/>
            </a:endParaRPr>
          </a:p>
          <a:p>
            <a:pPr algn="l">
              <a:buFont typeface="Arial" panose="020B0604020202020204" pitchFamily="34" charset="0"/>
              <a:buChar char="•"/>
            </a:pPr>
            <a:r>
              <a:rPr lang="en-US" b="0" i="0" dirty="0">
                <a:solidFill>
                  <a:srgbClr val="000000"/>
                </a:solidFill>
                <a:effectLst/>
                <a:latin typeface="-apple-system"/>
              </a:rPr>
              <a:t>Create a complete, single-file Python application for a classic Snake game using the Pygame library. The game should be easy to run and control, featuring a clean and visually appealing interface.</a:t>
            </a:r>
          </a:p>
          <a:p>
            <a:endParaRPr lang="en-US" dirty="0"/>
          </a:p>
        </p:txBody>
      </p:sp>
      <p:sp>
        <p:nvSpPr>
          <p:cNvPr id="4" name="Slide Number Placeholder 3"/>
          <p:cNvSpPr>
            <a:spLocks noGrp="1"/>
          </p:cNvSpPr>
          <p:nvPr>
            <p:ph type="sldNum" sz="quarter" idx="5"/>
          </p:nvPr>
        </p:nvSpPr>
        <p:spPr/>
        <p:txBody>
          <a:bodyPr/>
          <a:lstStyle/>
          <a:p>
            <a:pPr>
              <a:defRPr/>
            </a:pPr>
            <a:fld id="{6BC2A427-9A55-46D7-8A8D-CD61CF48BFD8}" type="slidenum">
              <a:rPr lang="en-US" altLang="en-US" smtClean="0"/>
              <a:pPr>
                <a:defRPr/>
              </a:pPr>
              <a:t>7</a:t>
            </a:fld>
            <a:endParaRPr lang="en-US" altLang="en-US" dirty="0"/>
          </a:p>
        </p:txBody>
      </p:sp>
    </p:spTree>
    <p:extLst>
      <p:ext uri="{BB962C8B-B14F-4D97-AF65-F5344CB8AC3E}">
        <p14:creationId xmlns:p14="http://schemas.microsoft.com/office/powerpoint/2010/main" val="3034017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000000"/>
                </a:solidFill>
                <a:effectLst/>
                <a:latin typeface="-apple-system"/>
              </a:rPr>
              <a:t>Speaker Script:</a:t>
            </a:r>
            <a:r>
              <a:rPr lang="en-US" b="0" i="0" dirty="0">
                <a:solidFill>
                  <a:srgbClr val="000000"/>
                </a:solidFill>
                <a:effectLst/>
                <a:latin typeface="-apple-system"/>
              </a:rPr>
              <a:t> "This is the most important part. We need to define the rules of our game. How does it work?"</a:t>
            </a:r>
          </a:p>
          <a:p>
            <a:pPr algn="l">
              <a:buFont typeface="Arial" panose="020B0604020202020204" pitchFamily="34" charset="0"/>
              <a:buChar char="•"/>
            </a:pPr>
            <a:r>
              <a:rPr lang="en-US" b="1" i="0" dirty="0">
                <a:solidFill>
                  <a:srgbClr val="000000"/>
                </a:solidFill>
                <a:effectLst/>
                <a:latin typeface="-apple-system"/>
              </a:rPr>
              <a:t>Game Board:</a:t>
            </a:r>
            <a:r>
              <a:rPr lang="en-US" b="0" i="0" dirty="0">
                <a:solidFill>
                  <a:srgbClr val="000000"/>
                </a:solidFill>
                <a:effectLst/>
                <a:latin typeface="-apple-system"/>
              </a:rPr>
              <a:t> The play area. (e.g., 800x600 window, 20x20 grid)</a:t>
            </a:r>
          </a:p>
          <a:p>
            <a:pPr algn="l">
              <a:buFont typeface="Arial" panose="020B0604020202020204" pitchFamily="34" charset="0"/>
              <a:buChar char="•"/>
            </a:pPr>
            <a:r>
              <a:rPr lang="en-US" b="1" i="0" dirty="0">
                <a:solidFill>
                  <a:srgbClr val="000000"/>
                </a:solidFill>
                <a:effectLst/>
                <a:latin typeface="-apple-system"/>
              </a:rPr>
              <a:t>The Player (Snake):</a:t>
            </a:r>
            <a:r>
              <a:rPr lang="en-US" b="0" i="0" dirty="0">
                <a:solidFill>
                  <a:srgbClr val="000000"/>
                </a:solidFill>
                <a:effectLst/>
                <a:latin typeface="-apple-system"/>
              </a:rPr>
              <a:t> How does the player move and interact? (e.g., Starts in center, controlled by WASD, can't reverse).</a:t>
            </a:r>
          </a:p>
          <a:p>
            <a:pPr algn="l">
              <a:buFont typeface="Arial" panose="020B0604020202020204" pitchFamily="34" charset="0"/>
              <a:buChar char="•"/>
            </a:pPr>
            <a:r>
              <a:rPr lang="en-US" b="1" i="0" dirty="0">
                <a:solidFill>
                  <a:srgbClr val="000000"/>
                </a:solidFill>
                <a:effectLst/>
                <a:latin typeface="-apple-system"/>
              </a:rPr>
              <a:t>The Goal (Food):</a:t>
            </a:r>
            <a:r>
              <a:rPr lang="en-US" b="0" i="0" dirty="0">
                <a:solidFill>
                  <a:srgbClr val="000000"/>
                </a:solidFill>
                <a:effectLst/>
                <a:latin typeface="-apple-system"/>
              </a:rPr>
              <a:t> What does the player try to achieve? (e.g., Randomly appearing food, snake grows when it eats).</a:t>
            </a:r>
          </a:p>
          <a:p>
            <a:pPr algn="l">
              <a:buFont typeface="Arial" panose="020B0604020202020204" pitchFamily="34" charset="0"/>
              <a:buChar char="•"/>
            </a:pPr>
            <a:r>
              <a:rPr lang="en-US" b="1" i="0" dirty="0">
                <a:solidFill>
                  <a:srgbClr val="000000"/>
                </a:solidFill>
                <a:effectLst/>
                <a:latin typeface="-apple-system"/>
              </a:rPr>
              <a:t>Rules (Scoring &amp; Game Over):</a:t>
            </a:r>
            <a:r>
              <a:rPr lang="en-US" b="0" i="0" dirty="0">
                <a:solidFill>
                  <a:srgbClr val="000000"/>
                </a:solidFill>
                <a:effectLst/>
                <a:latin typeface="-apple-system"/>
              </a:rPr>
              <a:t> How do you win or lose? (e.g., +10 points per food, game ends on collision).</a:t>
            </a:r>
          </a:p>
          <a:p>
            <a:pPr algn="l">
              <a:buFont typeface="Arial" panose="020B0604020202020204" pitchFamily="34" charset="0"/>
              <a:buChar char="•"/>
            </a:pPr>
            <a:r>
              <a:rPr lang="en-US" b="1" i="0" dirty="0">
                <a:solidFill>
                  <a:srgbClr val="000000"/>
                </a:solidFill>
                <a:effectLst/>
                <a:latin typeface="-apple-system"/>
              </a:rPr>
              <a:t>Game Flow:</a:t>
            </a:r>
            <a:r>
              <a:rPr lang="en-US" b="0" i="0" dirty="0">
                <a:solidFill>
                  <a:srgbClr val="000000"/>
                </a:solidFill>
                <a:effectLst/>
                <a:latin typeface="-apple-system"/>
              </a:rPr>
              <a:t> How does the game state change? (e.g., Restart with 'R' key).</a:t>
            </a:r>
          </a:p>
          <a:p>
            <a:endParaRPr lang="en-US" dirty="0"/>
          </a:p>
        </p:txBody>
      </p:sp>
      <p:sp>
        <p:nvSpPr>
          <p:cNvPr id="4" name="Slide Number Placeholder 3"/>
          <p:cNvSpPr>
            <a:spLocks noGrp="1"/>
          </p:cNvSpPr>
          <p:nvPr>
            <p:ph type="sldNum" sz="quarter" idx="5"/>
          </p:nvPr>
        </p:nvSpPr>
        <p:spPr/>
        <p:txBody>
          <a:bodyPr/>
          <a:lstStyle/>
          <a:p>
            <a:pPr>
              <a:defRPr/>
            </a:pPr>
            <a:fld id="{6BC2A427-9A55-46D7-8A8D-CD61CF48BFD8}" type="slidenum">
              <a:rPr lang="en-US" altLang="en-US" smtClean="0"/>
              <a:pPr>
                <a:defRPr/>
              </a:pPr>
              <a:t>8</a:t>
            </a:fld>
            <a:endParaRPr lang="en-US" altLang="en-US" dirty="0"/>
          </a:p>
        </p:txBody>
      </p:sp>
    </p:spTree>
    <p:extLst>
      <p:ext uri="{BB962C8B-B14F-4D97-AF65-F5344CB8AC3E}">
        <p14:creationId xmlns:p14="http://schemas.microsoft.com/office/powerpoint/2010/main" val="2568643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Speaker Script: "Next, let's think about the visuals. How should our game look and feel?"</a:t>
            </a:r>
          </a:p>
          <a:p>
            <a:endParaRPr lang="en-US" dirty="0"/>
          </a:p>
        </p:txBody>
      </p:sp>
      <p:sp>
        <p:nvSpPr>
          <p:cNvPr id="4" name="Slide Number Placeholder 3"/>
          <p:cNvSpPr>
            <a:spLocks noGrp="1"/>
          </p:cNvSpPr>
          <p:nvPr>
            <p:ph type="sldNum" sz="quarter" idx="5"/>
          </p:nvPr>
        </p:nvSpPr>
        <p:spPr/>
        <p:txBody>
          <a:bodyPr/>
          <a:lstStyle/>
          <a:p>
            <a:pPr>
              <a:defRPr/>
            </a:pPr>
            <a:fld id="{6BC2A427-9A55-46D7-8A8D-CD61CF48BFD8}" type="slidenum">
              <a:rPr lang="en-US" altLang="en-US" smtClean="0"/>
              <a:pPr>
                <a:defRPr/>
              </a:pPr>
              <a:t>9</a:t>
            </a:fld>
            <a:endParaRPr lang="en-US" altLang="en-US" dirty="0"/>
          </a:p>
        </p:txBody>
      </p:sp>
    </p:spTree>
    <p:extLst>
      <p:ext uri="{BB962C8B-B14F-4D97-AF65-F5344CB8AC3E}">
        <p14:creationId xmlns:p14="http://schemas.microsoft.com/office/powerpoint/2010/main" val="2750918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000000"/>
                </a:solidFill>
                <a:effectLst/>
                <a:latin typeface="-apple-system"/>
              </a:rPr>
              <a:t>Speaker Script:</a:t>
            </a:r>
            <a:r>
              <a:rPr lang="en-US" b="0" i="0" dirty="0">
                <a:solidFill>
                  <a:srgbClr val="000000"/>
                </a:solidFill>
                <a:effectLst/>
                <a:latin typeface="-apple-system"/>
              </a:rPr>
              <a:t> "Here, we give technical instructions to our AI developer. We're telling it </a:t>
            </a:r>
            <a:r>
              <a:rPr lang="en-US" b="0" i="1" dirty="0">
                <a:solidFill>
                  <a:srgbClr val="000000"/>
                </a:solidFill>
                <a:effectLst/>
                <a:latin typeface="-apple-system"/>
              </a:rPr>
              <a:t>how</a:t>
            </a:r>
            <a:r>
              <a:rPr lang="en-US" b="0" i="0" dirty="0">
                <a:solidFill>
                  <a:srgbClr val="000000"/>
                </a:solidFill>
                <a:effectLst/>
                <a:latin typeface="-apple-system"/>
              </a:rPr>
              <a:t> to build the game."</a:t>
            </a:r>
          </a:p>
          <a:p>
            <a:pPr algn="l">
              <a:buFont typeface="Arial" panose="020B0604020202020204" pitchFamily="34" charset="0"/>
              <a:buChar char="•"/>
            </a:pPr>
            <a:r>
              <a:rPr lang="en-US" b="1" i="0" dirty="0">
                <a:solidFill>
                  <a:srgbClr val="000000"/>
                </a:solidFill>
                <a:effectLst/>
                <a:latin typeface="-apple-system"/>
              </a:rPr>
              <a:t>Language and Library:</a:t>
            </a:r>
            <a:r>
              <a:rPr lang="en-US" b="0" i="0" dirty="0">
                <a:solidFill>
                  <a:srgbClr val="000000"/>
                </a:solidFill>
                <a:effectLst/>
                <a:latin typeface="-apple-system"/>
              </a:rPr>
              <a:t> Be explicit. (e.g., Use Python 3 and the </a:t>
            </a:r>
            <a:r>
              <a:rPr lang="en-US" b="0" i="0" dirty="0" err="1">
                <a:solidFill>
                  <a:srgbClr val="000000"/>
                </a:solidFill>
                <a:effectLst/>
                <a:latin typeface="-apple-system"/>
              </a:rPr>
              <a:t>pygame</a:t>
            </a:r>
            <a:r>
              <a:rPr lang="en-US" b="0" i="0" dirty="0">
                <a:solidFill>
                  <a:srgbClr val="000000"/>
                </a:solidFill>
                <a:effectLst/>
                <a:latin typeface="-apple-system"/>
              </a:rPr>
              <a:t> library).</a:t>
            </a:r>
          </a:p>
          <a:p>
            <a:pPr algn="l">
              <a:buFont typeface="Arial" panose="020B0604020202020204" pitchFamily="34" charset="0"/>
              <a:buChar char="•"/>
            </a:pPr>
            <a:r>
              <a:rPr lang="en-US" b="1" i="0" dirty="0">
                <a:solidFill>
                  <a:srgbClr val="000000"/>
                </a:solidFill>
                <a:effectLst/>
                <a:latin typeface="-apple-system"/>
              </a:rPr>
              <a:t>Code Structure:</a:t>
            </a:r>
            <a:r>
              <a:rPr lang="en-US" b="0" i="0" dirty="0">
                <a:solidFill>
                  <a:srgbClr val="000000"/>
                </a:solidFill>
                <a:effectLst/>
                <a:latin typeface="-apple-system"/>
              </a:rPr>
              <a:t> This is key for good software engineering. We can ask the AI to follow best practices.</a:t>
            </a:r>
          </a:p>
          <a:p>
            <a:pPr marL="742950" lvl="1" indent="-285750" algn="l">
              <a:buFont typeface="Arial" panose="020B0604020202020204" pitchFamily="34" charset="0"/>
              <a:buChar char="•"/>
            </a:pPr>
            <a:r>
              <a:rPr lang="en-US" b="0" i="0" dirty="0">
                <a:solidFill>
                  <a:srgbClr val="000000"/>
                </a:solidFill>
                <a:effectLst/>
                <a:latin typeface="-apple-system"/>
              </a:rPr>
              <a:t>Use a class to organize the code.</a:t>
            </a:r>
          </a:p>
          <a:p>
            <a:pPr marL="742950" lvl="1" indent="-285750" algn="l">
              <a:buFont typeface="Arial" panose="020B0604020202020204" pitchFamily="34" charset="0"/>
              <a:buChar char="•"/>
            </a:pPr>
            <a:r>
              <a:rPr lang="en-US" b="0" i="0" dirty="0">
                <a:solidFill>
                  <a:srgbClr val="000000"/>
                </a:solidFill>
                <a:effectLst/>
                <a:latin typeface="-apple-system"/>
              </a:rPr>
              <a:t>Use constants for game parameters.</a:t>
            </a:r>
          </a:p>
          <a:p>
            <a:pPr marL="742950" lvl="1" indent="-285750" algn="l">
              <a:buFont typeface="Arial" panose="020B0604020202020204" pitchFamily="34" charset="0"/>
              <a:buChar char="•"/>
            </a:pPr>
            <a:r>
              <a:rPr lang="en-US" b="0" i="0" dirty="0">
                <a:solidFill>
                  <a:srgbClr val="000000"/>
                </a:solidFill>
                <a:effectLst/>
                <a:latin typeface="-apple-system"/>
              </a:rPr>
              <a:t>Use separate methods for input, updates, and drawing.</a:t>
            </a:r>
          </a:p>
          <a:p>
            <a:endParaRPr lang="en-US" dirty="0"/>
          </a:p>
        </p:txBody>
      </p:sp>
      <p:sp>
        <p:nvSpPr>
          <p:cNvPr id="4" name="Slide Number Placeholder 3"/>
          <p:cNvSpPr>
            <a:spLocks noGrp="1"/>
          </p:cNvSpPr>
          <p:nvPr>
            <p:ph type="sldNum" sz="quarter" idx="5"/>
          </p:nvPr>
        </p:nvSpPr>
        <p:spPr/>
        <p:txBody>
          <a:bodyPr/>
          <a:lstStyle/>
          <a:p>
            <a:pPr>
              <a:defRPr/>
            </a:pPr>
            <a:fld id="{6BC2A427-9A55-46D7-8A8D-CD61CF48BFD8}" type="slidenum">
              <a:rPr lang="en-US" altLang="en-US" smtClean="0"/>
              <a:pPr>
                <a:defRPr/>
              </a:pPr>
              <a:t>10</a:t>
            </a:fld>
            <a:endParaRPr lang="en-US" altLang="en-US" dirty="0"/>
          </a:p>
        </p:txBody>
      </p:sp>
    </p:spTree>
    <p:extLst>
      <p:ext uri="{BB962C8B-B14F-4D97-AF65-F5344CB8AC3E}">
        <p14:creationId xmlns:p14="http://schemas.microsoft.com/office/powerpoint/2010/main" val="2668259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000000"/>
                </a:solidFill>
                <a:effectLst/>
                <a:latin typeface="-apple-system"/>
              </a:rPr>
              <a:t>Speaker Script:</a:t>
            </a:r>
            <a:r>
              <a:rPr lang="en-US" b="0" i="0" dirty="0">
                <a:solidFill>
                  <a:srgbClr val="000000"/>
                </a:solidFill>
                <a:effectLst/>
                <a:latin typeface="-apple-system"/>
              </a:rPr>
              <a:t> "Finally, what do we want at the end? We need to define the final output."</a:t>
            </a:r>
          </a:p>
          <a:p>
            <a:pPr algn="l">
              <a:buFont typeface="Arial" panose="020B0604020202020204" pitchFamily="34" charset="0"/>
              <a:buChar char="•"/>
            </a:pPr>
            <a:r>
              <a:rPr lang="en-US" b="0" i="0" dirty="0">
                <a:solidFill>
                  <a:srgbClr val="000000"/>
                </a:solidFill>
                <a:effectLst/>
                <a:latin typeface="-apple-system"/>
              </a:rPr>
              <a:t>For a simple game, a single file is often best.</a:t>
            </a:r>
          </a:p>
          <a:p>
            <a:pPr algn="l">
              <a:buFont typeface="Arial" panose="020B0604020202020204" pitchFamily="34" charset="0"/>
              <a:buChar char="•"/>
            </a:pPr>
            <a:r>
              <a:rPr lang="en-US" b="1" i="0" dirty="0">
                <a:solidFill>
                  <a:srgbClr val="000000"/>
                </a:solidFill>
                <a:effectLst/>
                <a:latin typeface="-apple-system"/>
              </a:rPr>
              <a:t>Our Deliverable:</a:t>
            </a:r>
            <a:endParaRPr lang="en-US" b="0" i="0" dirty="0">
              <a:solidFill>
                <a:srgbClr val="000000"/>
              </a:solidFill>
              <a:effectLst/>
              <a:latin typeface="-apple-system"/>
            </a:endParaRPr>
          </a:p>
          <a:p>
            <a:pPr algn="l">
              <a:buFont typeface="Arial" panose="020B0604020202020204" pitchFamily="34" charset="0"/>
              <a:buChar char="•"/>
            </a:pPr>
            <a:r>
              <a:rPr lang="en-US" b="0" i="0" dirty="0">
                <a:solidFill>
                  <a:srgbClr val="000000"/>
                </a:solidFill>
                <a:effectLst/>
                <a:latin typeface="-apple-system"/>
              </a:rPr>
              <a:t>A single Python file (snake_game.py) containing the complete, runnable game.</a:t>
            </a:r>
          </a:p>
          <a:p>
            <a:endParaRPr lang="en-US" dirty="0"/>
          </a:p>
        </p:txBody>
      </p:sp>
      <p:sp>
        <p:nvSpPr>
          <p:cNvPr id="4" name="Slide Number Placeholder 3"/>
          <p:cNvSpPr>
            <a:spLocks noGrp="1"/>
          </p:cNvSpPr>
          <p:nvPr>
            <p:ph type="sldNum" sz="quarter" idx="5"/>
          </p:nvPr>
        </p:nvSpPr>
        <p:spPr/>
        <p:txBody>
          <a:bodyPr/>
          <a:lstStyle/>
          <a:p>
            <a:pPr>
              <a:defRPr/>
            </a:pPr>
            <a:fld id="{6BC2A427-9A55-46D7-8A8D-CD61CF48BFD8}" type="slidenum">
              <a:rPr lang="en-US" altLang="en-US" smtClean="0"/>
              <a:pPr>
                <a:defRPr/>
              </a:pPr>
              <a:t>11</a:t>
            </a:fld>
            <a:endParaRPr lang="en-US" altLang="en-US" dirty="0"/>
          </a:p>
        </p:txBody>
      </p:sp>
    </p:spTree>
    <p:extLst>
      <p:ext uri="{BB962C8B-B14F-4D97-AF65-F5344CB8AC3E}">
        <p14:creationId xmlns:p14="http://schemas.microsoft.com/office/powerpoint/2010/main" val="28621405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1" i="0" dirty="0">
                <a:solidFill>
                  <a:srgbClr val="000000"/>
                </a:solidFill>
                <a:effectLst/>
                <a:latin typeface="-apple-system"/>
              </a:rPr>
              <a:t>Speaker Script:</a:t>
            </a:r>
            <a:r>
              <a:rPr lang="en-US" b="0" i="0" dirty="0">
                <a:solidFill>
                  <a:srgbClr val="000000"/>
                </a:solidFill>
                <a:effectLst/>
                <a:latin typeface="-apple-system"/>
              </a:rPr>
              <a:t> "Now, let's put it all together. This is the prompt we would give to our AI assistant."</a:t>
            </a:r>
          </a:p>
          <a:p>
            <a:br>
              <a:rPr lang="en-US" dirty="0"/>
            </a:br>
            <a:endParaRPr lang="en-US" dirty="0"/>
          </a:p>
        </p:txBody>
      </p:sp>
      <p:sp>
        <p:nvSpPr>
          <p:cNvPr id="4" name="Slide Number Placeholder 3"/>
          <p:cNvSpPr>
            <a:spLocks noGrp="1"/>
          </p:cNvSpPr>
          <p:nvPr>
            <p:ph type="sldNum" sz="quarter" idx="5"/>
          </p:nvPr>
        </p:nvSpPr>
        <p:spPr/>
        <p:txBody>
          <a:bodyPr/>
          <a:lstStyle/>
          <a:p>
            <a:pPr>
              <a:defRPr/>
            </a:pPr>
            <a:fld id="{6BC2A427-9A55-46D7-8A8D-CD61CF48BFD8}" type="slidenum">
              <a:rPr lang="en-US" altLang="en-US" smtClean="0"/>
              <a:pPr>
                <a:defRPr/>
              </a:pPr>
              <a:t>12</a:t>
            </a:fld>
            <a:endParaRPr lang="en-US" altLang="en-US" dirty="0"/>
          </a:p>
        </p:txBody>
      </p:sp>
    </p:spTree>
    <p:extLst>
      <p:ext uri="{BB962C8B-B14F-4D97-AF65-F5344CB8AC3E}">
        <p14:creationId xmlns:p14="http://schemas.microsoft.com/office/powerpoint/2010/main" val="4055167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000000"/>
                </a:solidFill>
                <a:effectLst/>
                <a:latin typeface="-apple-system"/>
              </a:rPr>
              <a:t>Common Questions:</a:t>
            </a:r>
            <a:endParaRPr lang="en-US" b="0" i="0" dirty="0">
              <a:solidFill>
                <a:srgbClr val="000000"/>
              </a:solidFill>
              <a:effectLst/>
              <a:latin typeface="-apple-system"/>
            </a:endParaRPr>
          </a:p>
          <a:p>
            <a:pPr marL="742950" lvl="1" indent="-285750" algn="l">
              <a:buFont typeface="Arial" panose="020B0604020202020204" pitchFamily="34" charset="0"/>
              <a:buChar char="•"/>
            </a:pPr>
            <a:r>
              <a:rPr lang="en-US" b="0" i="0" dirty="0">
                <a:solidFill>
                  <a:srgbClr val="000000"/>
                </a:solidFill>
                <a:effectLst/>
                <a:latin typeface="-apple-system"/>
              </a:rPr>
              <a:t>What IDE works best for this workflow?</a:t>
            </a:r>
          </a:p>
          <a:p>
            <a:pPr marL="742950" lvl="1" indent="-285750" algn="l">
              <a:buFont typeface="Arial" panose="020B0604020202020204" pitchFamily="34" charset="0"/>
              <a:buChar char="•"/>
            </a:pPr>
            <a:r>
              <a:rPr lang="en-US" b="0" i="0" dirty="0">
                <a:solidFill>
                  <a:srgbClr val="000000"/>
                </a:solidFill>
                <a:effectLst/>
                <a:latin typeface="-apple-system"/>
              </a:rPr>
              <a:t>Any tips for writing better prompts?</a:t>
            </a:r>
          </a:p>
          <a:p>
            <a:pPr marL="742950" lvl="1" indent="-285750" algn="l">
              <a:buFont typeface="Arial" panose="020B0604020202020204" pitchFamily="34" charset="0"/>
              <a:buChar char="•"/>
            </a:pPr>
            <a:r>
              <a:rPr lang="en-US" b="0" i="0" dirty="0">
                <a:solidFill>
                  <a:srgbClr val="000000"/>
                </a:solidFill>
                <a:effectLst/>
                <a:latin typeface="-apple-system"/>
              </a:rPr>
              <a:t>How do I handle errors or bugs in generated code?</a:t>
            </a:r>
          </a:p>
          <a:p>
            <a:pPr marL="742950" lvl="1" indent="-285750" algn="l">
              <a:buFont typeface="Arial" panose="020B0604020202020204" pitchFamily="34" charset="0"/>
              <a:buChar char="•"/>
            </a:pPr>
            <a:r>
              <a:rPr lang="en-US" b="0" i="0" dirty="0">
                <a:solidFill>
                  <a:srgbClr val="000000"/>
                </a:solidFill>
                <a:effectLst/>
                <a:latin typeface="-apple-system"/>
              </a:rPr>
              <a:t>Can I use these prompts with other AI tools?</a:t>
            </a:r>
          </a:p>
          <a:p>
            <a:pPr marL="742950" lvl="1" indent="-285750" algn="l">
              <a:buFont typeface="Arial" panose="020B0604020202020204" pitchFamily="34" charset="0"/>
              <a:buChar char="•"/>
            </a:pPr>
            <a:r>
              <a:rPr lang="en-US" b="0" i="0" dirty="0">
                <a:solidFill>
                  <a:srgbClr val="000000"/>
                </a:solidFill>
                <a:effectLst/>
                <a:latin typeface="-apple-system"/>
              </a:rPr>
              <a:t>How do I get GitHub Education benefits for free Copilot?</a:t>
            </a:r>
          </a:p>
          <a:p>
            <a:endParaRPr lang="en-US" dirty="0"/>
          </a:p>
        </p:txBody>
      </p:sp>
      <p:sp>
        <p:nvSpPr>
          <p:cNvPr id="4" name="Slide Number Placeholder 3"/>
          <p:cNvSpPr>
            <a:spLocks noGrp="1"/>
          </p:cNvSpPr>
          <p:nvPr>
            <p:ph type="sldNum" sz="quarter" idx="5"/>
          </p:nvPr>
        </p:nvSpPr>
        <p:spPr/>
        <p:txBody>
          <a:bodyPr/>
          <a:lstStyle/>
          <a:p>
            <a:pPr>
              <a:defRPr/>
            </a:pPr>
            <a:fld id="{6BC2A427-9A55-46D7-8A8D-CD61CF48BFD8}" type="slidenum">
              <a:rPr lang="en-US" altLang="en-US" smtClean="0"/>
              <a:pPr>
                <a:defRPr/>
              </a:pPr>
              <a:t>15</a:t>
            </a:fld>
            <a:endParaRPr lang="en-US" altLang="en-US" dirty="0"/>
          </a:p>
        </p:txBody>
      </p:sp>
    </p:spTree>
    <p:extLst>
      <p:ext uri="{BB962C8B-B14F-4D97-AF65-F5344CB8AC3E}">
        <p14:creationId xmlns:p14="http://schemas.microsoft.com/office/powerpoint/2010/main" val="1352372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lgn="l">
              <a:spcAft>
                <a:spcPts val="1200"/>
              </a:spcAft>
            </a:pPr>
            <a:r>
              <a:rPr lang="en-US" b="1" i="0" dirty="0">
                <a:solidFill>
                  <a:srgbClr val="000000"/>
                </a:solidFill>
                <a:effectLst/>
                <a:latin typeface="-apple-system"/>
              </a:rPr>
              <a:t>Q: How does this differ from CISC339?</a:t>
            </a:r>
            <a:r>
              <a:rPr lang="en-US" b="0" i="0" dirty="0">
                <a:solidFill>
                  <a:srgbClr val="000000"/>
                </a:solidFill>
                <a:effectLst/>
                <a:latin typeface="-apple-system"/>
              </a:rPr>
              <a:t> A: "CISC339 focuses on foundational AI algorithms and theory - how AI works internally. This course focuses on practical application - how to effectively use modern AI tools to solve real problems. Think of CISC339 as learning the mechanics of a car engine, while this course teaches you how to drive efficiently and safely."</a:t>
            </a:r>
          </a:p>
          <a:p>
            <a:pPr algn="l">
              <a:spcAft>
                <a:spcPts val="1200"/>
              </a:spcAft>
            </a:pPr>
            <a:endParaRPr lang="en-US" b="1" i="0" dirty="0">
              <a:solidFill>
                <a:srgbClr val="000000"/>
              </a:solidFill>
              <a:effectLst/>
              <a:latin typeface="-apple-system"/>
            </a:endParaRPr>
          </a:p>
          <a:p>
            <a:pPr algn="l">
              <a:spcAft>
                <a:spcPts val="1200"/>
              </a:spcAft>
            </a:pPr>
            <a:r>
              <a:rPr lang="en-US" b="1" i="0" dirty="0">
                <a:solidFill>
                  <a:srgbClr val="000000"/>
                </a:solidFill>
                <a:effectLst/>
                <a:latin typeface="-apple-system"/>
              </a:rPr>
              <a:t>Q: What if AI tools become outdated quickly?</a:t>
            </a:r>
            <a:r>
              <a:rPr lang="en-US" b="0" i="0" dirty="0">
                <a:solidFill>
                  <a:srgbClr val="000000"/>
                </a:solidFill>
                <a:effectLst/>
                <a:latin typeface="-apple-system"/>
              </a:rPr>
              <a:t> A: "That's exactly why we focus on principles and adaptability rather than specific tool versions. We teach prompt engineering techniques, ethical considerations, and evaluation skills that transfer across different AI platforms. The tools may evolve, but the underlying principles remain relevant."</a:t>
            </a:r>
          </a:p>
          <a:p>
            <a:pPr algn="l">
              <a:spcAft>
                <a:spcPts val="1200"/>
              </a:spcAft>
            </a:pPr>
            <a:endParaRPr lang="en-US" b="1" i="0" dirty="0">
              <a:solidFill>
                <a:srgbClr val="000000"/>
              </a:solidFill>
              <a:effectLst/>
              <a:latin typeface="-apple-system"/>
            </a:endParaRPr>
          </a:p>
          <a:p>
            <a:pPr algn="l">
              <a:spcAft>
                <a:spcPts val="1200"/>
              </a:spcAft>
            </a:pPr>
            <a:r>
              <a:rPr lang="en-US" b="1" i="0" dirty="0">
                <a:solidFill>
                  <a:srgbClr val="000000"/>
                </a:solidFill>
                <a:effectLst/>
                <a:latin typeface="-apple-system"/>
              </a:rPr>
              <a:t>Q: Is there enough student demand?</a:t>
            </a:r>
            <a:r>
              <a:rPr lang="en-US" b="0" i="0" dirty="0">
                <a:solidFill>
                  <a:srgbClr val="000000"/>
                </a:solidFill>
                <a:effectLst/>
                <a:latin typeface="-apple-system"/>
              </a:rPr>
              <a:t> A: "Absolutely. We see consistent interest in AI topics in CISC339, and students regularly ask about practical AI skills. The job market data strongly supports this demand, and this course provides exactly the applied skills that employers are seeking."</a:t>
            </a:r>
          </a:p>
          <a:p>
            <a:pPr algn="l">
              <a:spcAft>
                <a:spcPts val="1200"/>
              </a:spcAft>
            </a:pPr>
            <a:endParaRPr lang="en-US" b="1" i="0" dirty="0">
              <a:solidFill>
                <a:srgbClr val="000000"/>
              </a:solidFill>
              <a:effectLst/>
              <a:latin typeface="-apple-system"/>
            </a:endParaRPr>
          </a:p>
          <a:p>
            <a:pPr algn="l">
              <a:spcAft>
                <a:spcPts val="1200"/>
              </a:spcAft>
            </a:pPr>
            <a:r>
              <a:rPr lang="en-US" b="1" i="0" dirty="0">
                <a:solidFill>
                  <a:srgbClr val="000000"/>
                </a:solidFill>
                <a:effectLst/>
                <a:latin typeface="-apple-system"/>
              </a:rPr>
              <a:t>Q: What about academic integrity with AI tools?</a:t>
            </a:r>
            <a:r>
              <a:rPr lang="en-US" b="0" i="0" dirty="0">
                <a:solidFill>
                  <a:srgbClr val="000000"/>
                </a:solidFill>
                <a:effectLst/>
                <a:latin typeface="-apple-system"/>
              </a:rPr>
              <a:t> A: "This is a central part of the course. We teach responsible AI usage, proper attribution, and academic integrity explicitly. Students learn when AI assistance is appropriate and how to use it ethically, preparing them for professional environments where these tools are standard."</a:t>
            </a:r>
          </a:p>
          <a:p>
            <a:pPr algn="l">
              <a:spcAft>
                <a:spcPts val="1200"/>
              </a:spcAft>
            </a:pPr>
            <a:endParaRPr lang="en-US" b="1" i="0" dirty="0">
              <a:solidFill>
                <a:srgbClr val="000000"/>
              </a:solidFill>
              <a:effectLst/>
              <a:latin typeface="-apple-system"/>
            </a:endParaRPr>
          </a:p>
          <a:p>
            <a:pPr algn="l">
              <a:spcAft>
                <a:spcPts val="1200"/>
              </a:spcAft>
            </a:pPr>
            <a:r>
              <a:rPr lang="en-US" b="1" i="0" dirty="0">
                <a:solidFill>
                  <a:srgbClr val="000000"/>
                </a:solidFill>
                <a:effectLst/>
                <a:latin typeface="-apple-system"/>
              </a:rPr>
              <a:t>Q: Can students without strong programming backgrounds succeed?</a:t>
            </a:r>
            <a:r>
              <a:rPr lang="en-US" b="0" i="0" dirty="0">
                <a:solidFill>
                  <a:srgbClr val="000000"/>
                </a:solidFill>
                <a:effectLst/>
                <a:latin typeface="-apple-system"/>
              </a:rPr>
              <a:t> A: "The prerequisites ensure students have necessary programming foundation. However, the course is designed with scaffolded learning and template-based approaches that support students while challenging them to grow. The weekly lab format provides continuous support and feedback."</a:t>
            </a:r>
          </a:p>
          <a:p>
            <a:endParaRPr lang="en-US" dirty="0"/>
          </a:p>
        </p:txBody>
      </p:sp>
      <p:sp>
        <p:nvSpPr>
          <p:cNvPr id="4" name="Slide Number Placeholder 3"/>
          <p:cNvSpPr>
            <a:spLocks noGrp="1"/>
          </p:cNvSpPr>
          <p:nvPr>
            <p:ph type="sldNum" sz="quarter" idx="5"/>
          </p:nvPr>
        </p:nvSpPr>
        <p:spPr/>
        <p:txBody>
          <a:bodyPr/>
          <a:lstStyle/>
          <a:p>
            <a:pPr>
              <a:defRPr/>
            </a:pPr>
            <a:fld id="{6BC2A427-9A55-46D7-8A8D-CD61CF48BFD8}" type="slidenum">
              <a:rPr lang="en-US" altLang="en-US" smtClean="0"/>
              <a:pPr>
                <a:defRPr/>
              </a:pPr>
              <a:t>16</a:t>
            </a:fld>
            <a:endParaRPr lang="en-US" altLang="en-US" dirty="0"/>
          </a:p>
        </p:txBody>
      </p:sp>
    </p:spTree>
    <p:extLst>
      <p:ext uri="{BB962C8B-B14F-4D97-AF65-F5344CB8AC3E}">
        <p14:creationId xmlns:p14="http://schemas.microsoft.com/office/powerpoint/2010/main" val="3975005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21FB4E57-A5F1-47D2-A5D5-B1D80CA09AC4}"/>
              </a:ext>
            </a:extLst>
          </p:cNvPr>
          <p:cNvSpPr>
            <a:spLocks noGrp="1" noChangeArrowheads="1"/>
          </p:cNvSpPr>
          <p:nvPr>
            <p:ph type="title" hasCustomPrompt="1"/>
          </p:nvPr>
        </p:nvSpPr>
        <p:spPr bwMode="auto">
          <a:xfrm>
            <a:off x="0" y="0"/>
            <a:ext cx="9144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rgbClr val="244463"/>
                </a:solidFill>
              </a:defRPr>
            </a:lvl1pPr>
          </a:lstStyle>
          <a:p>
            <a:pPr lvl="0"/>
            <a:r>
              <a:rPr lang="en-US" altLang="en-US" dirty="0"/>
              <a:t>Click to Edit Master Title Style</a:t>
            </a:r>
          </a:p>
        </p:txBody>
      </p:sp>
      <p:sp>
        <p:nvSpPr>
          <p:cNvPr id="3" name="Content Placeholder 2"/>
          <p:cNvSpPr>
            <a:spLocks noGrp="1"/>
          </p:cNvSpPr>
          <p:nvPr>
            <p:ph idx="1"/>
          </p:nvPr>
        </p:nvSpPr>
        <p:spPr>
          <a:xfrm>
            <a:off x="0" y="1143004"/>
            <a:ext cx="4572000" cy="4525963"/>
          </a:xfrm>
        </p:spPr>
        <p:txBody>
          <a:bodyPr/>
          <a:lstStyle>
            <a:lvl1pPr marL="365760" indent="-274320" algn="l" rtl="0" eaLnBrk="1" fontAlgn="base" hangingPunct="1">
              <a:spcBef>
                <a:spcPct val="20000"/>
              </a:spcBef>
              <a:spcAft>
                <a:spcPct val="0"/>
              </a:spcAft>
              <a:buClrTx/>
              <a:buFont typeface="Wingdings" panose="05000000000000000000" pitchFamily="2" charset="2"/>
              <a:buChar char="§"/>
              <a:defRPr lang="en-US" altLang="en-US" sz="2000" b="0" dirty="0" smtClean="0">
                <a:solidFill>
                  <a:schemeClr val="tx1"/>
                </a:solidFill>
                <a:latin typeface="Calibri" panose="020F0502020204030204" pitchFamily="34" charset="0"/>
                <a:ea typeface="+mn-ea"/>
                <a:cs typeface="+mn-cs"/>
              </a:defRPr>
            </a:lvl1pPr>
            <a:lvl2pPr marL="640080" indent="-274320" algn="l" rtl="0" eaLnBrk="1" fontAlgn="base" hangingPunct="1">
              <a:spcBef>
                <a:spcPct val="20000"/>
              </a:spcBef>
              <a:spcAft>
                <a:spcPct val="0"/>
              </a:spcAft>
              <a:buClrTx/>
              <a:buFont typeface="Wingdings" panose="05000000000000000000" pitchFamily="2" charset="2"/>
              <a:buChar char="§"/>
              <a:defRPr lang="en-US" altLang="en-US" sz="2000" b="0" dirty="0" smtClean="0">
                <a:solidFill>
                  <a:schemeClr val="tx1"/>
                </a:solidFill>
                <a:latin typeface="Calibri" panose="020F0502020204030204" pitchFamily="34" charset="0"/>
                <a:ea typeface="+mn-ea"/>
                <a:cs typeface="+mn-cs"/>
              </a:defRPr>
            </a:lvl2pPr>
            <a:lvl3pPr marL="914400" indent="-274320" algn="l" rtl="0" eaLnBrk="1" fontAlgn="base" hangingPunct="1">
              <a:spcBef>
                <a:spcPct val="20000"/>
              </a:spcBef>
              <a:spcAft>
                <a:spcPct val="0"/>
              </a:spcAft>
              <a:buClrTx/>
              <a:buFont typeface="Wingdings" panose="05000000000000000000" pitchFamily="2" charset="2"/>
              <a:buChar char="§"/>
              <a:defRPr lang="en-US" sz="2000" b="0" dirty="0" smtClean="0">
                <a:solidFill>
                  <a:schemeClr val="tx1"/>
                </a:solidFill>
                <a:latin typeface="Calibri" panose="020F0502020204030204" pitchFamily="34" charset="0"/>
                <a:ea typeface="+mn-ea"/>
                <a:cs typeface="+mn-cs"/>
              </a:defRPr>
            </a:lvl3pPr>
            <a:lvl4pPr marL="1600200" indent="-228600">
              <a:buClrTx/>
              <a:buFont typeface="Wingdings" pitchFamily="2" charset="2"/>
              <a:buChar char="§"/>
              <a:defRPr b="0">
                <a:latin typeface="Calibri Light" panose="020F0302020204030204" pitchFamily="34" charset="0"/>
              </a:defRPr>
            </a:lvl4pPr>
            <a:lvl5pPr marL="2057400" indent="-228600">
              <a:buClrTx/>
              <a:buFont typeface="Wingdings" pitchFamily="2" charset="2"/>
              <a:buChar char="§"/>
              <a:defRPr b="0">
                <a:latin typeface="Calibri Light" panose="020F0302020204030204" pitchFamily="34" charset="0"/>
              </a:defRPr>
            </a:lvl5pPr>
          </a:lstStyle>
          <a:p>
            <a:pPr lvl="0"/>
            <a:r>
              <a:rPr lang="en-US" altLang="en-US"/>
              <a:t>Click to edit Master text styles</a:t>
            </a:r>
          </a:p>
          <a:p>
            <a:pPr lvl="1"/>
            <a:r>
              <a:rPr lang="en-US" altLang="en-US"/>
              <a:t>Second level</a:t>
            </a:r>
          </a:p>
          <a:p>
            <a:pPr lvl="2"/>
            <a:r>
              <a:rPr lang="en-US" altLang="en-US"/>
              <a:t>Third level</a:t>
            </a:r>
          </a:p>
        </p:txBody>
      </p:sp>
      <p:sp>
        <p:nvSpPr>
          <p:cNvPr id="7" name="Content Placeholder 2">
            <a:extLst>
              <a:ext uri="{FF2B5EF4-FFF2-40B4-BE49-F238E27FC236}">
                <a16:creationId xmlns:a16="http://schemas.microsoft.com/office/drawing/2014/main" id="{675E3C4F-38BC-468F-AA40-E9E1043F94D5}"/>
              </a:ext>
            </a:extLst>
          </p:cNvPr>
          <p:cNvSpPr>
            <a:spLocks noGrp="1"/>
          </p:cNvSpPr>
          <p:nvPr>
            <p:ph idx="10"/>
          </p:nvPr>
        </p:nvSpPr>
        <p:spPr>
          <a:xfrm>
            <a:off x="4572000" y="1143004"/>
            <a:ext cx="4572000" cy="4535341"/>
          </a:xfrm>
        </p:spPr>
        <p:txBody>
          <a:bodyPr/>
          <a:lstStyle>
            <a:lvl1pPr marL="365760" indent="-274320" algn="l" rtl="0" eaLnBrk="1" fontAlgn="base" hangingPunct="1">
              <a:spcBef>
                <a:spcPct val="20000"/>
              </a:spcBef>
              <a:spcAft>
                <a:spcPct val="0"/>
              </a:spcAft>
              <a:buClrTx/>
              <a:buFont typeface="Wingdings" panose="05000000000000000000" pitchFamily="2" charset="2"/>
              <a:buChar char="§"/>
              <a:defRPr lang="en-US" altLang="en-US" sz="2000" b="0" dirty="0" smtClean="0">
                <a:solidFill>
                  <a:schemeClr val="tx1"/>
                </a:solidFill>
                <a:latin typeface="Calibri" panose="020F0502020204030204" pitchFamily="34" charset="0"/>
                <a:ea typeface="+mn-ea"/>
                <a:cs typeface="+mn-cs"/>
              </a:defRPr>
            </a:lvl1pPr>
            <a:lvl2pPr marL="640080" indent="-274320" algn="l" rtl="0" eaLnBrk="1" fontAlgn="base" hangingPunct="1">
              <a:spcBef>
                <a:spcPct val="20000"/>
              </a:spcBef>
              <a:spcAft>
                <a:spcPct val="0"/>
              </a:spcAft>
              <a:buClrTx/>
              <a:buFont typeface="Wingdings" panose="05000000000000000000" pitchFamily="2" charset="2"/>
              <a:buChar char="§"/>
              <a:defRPr lang="en-US" altLang="en-US" sz="2000" b="0" dirty="0" smtClean="0">
                <a:solidFill>
                  <a:schemeClr val="tx1"/>
                </a:solidFill>
                <a:latin typeface="Calibri" panose="020F0502020204030204" pitchFamily="34" charset="0"/>
                <a:ea typeface="+mn-ea"/>
                <a:cs typeface="+mn-cs"/>
              </a:defRPr>
            </a:lvl2pPr>
            <a:lvl3pPr marL="914400" indent="-274320" algn="l" rtl="0" eaLnBrk="1" fontAlgn="base" hangingPunct="1">
              <a:spcBef>
                <a:spcPct val="20000"/>
              </a:spcBef>
              <a:spcAft>
                <a:spcPct val="0"/>
              </a:spcAft>
              <a:buClrTx/>
              <a:buFont typeface="Wingdings" panose="05000000000000000000" pitchFamily="2" charset="2"/>
              <a:buChar char="§"/>
              <a:defRPr lang="en-US" sz="2000" b="0" dirty="0" smtClean="0">
                <a:solidFill>
                  <a:schemeClr val="tx1"/>
                </a:solidFill>
                <a:latin typeface="Calibri" panose="020F0502020204030204" pitchFamily="34" charset="0"/>
                <a:ea typeface="+mn-ea"/>
                <a:cs typeface="+mn-cs"/>
              </a:defRPr>
            </a:lvl3pPr>
            <a:lvl4pPr marL="1600200" indent="-228600">
              <a:buClrTx/>
              <a:buFont typeface="Wingdings" pitchFamily="2" charset="2"/>
              <a:buChar char="§"/>
              <a:defRPr b="0">
                <a:latin typeface="Calibri Light" panose="020F0302020204030204" pitchFamily="34" charset="0"/>
              </a:defRPr>
            </a:lvl4pPr>
            <a:lvl5pPr marL="2057400" indent="-228600">
              <a:buClrTx/>
              <a:buFont typeface="Wingdings" pitchFamily="2" charset="2"/>
              <a:buChar char="§"/>
              <a:defRPr b="0">
                <a:latin typeface="Calibri Light" panose="020F0302020204030204" pitchFamily="34" charset="0"/>
              </a:defRPr>
            </a:lvl5pPr>
          </a:lstStyle>
          <a:p>
            <a:pPr lvl="0"/>
            <a:r>
              <a:rPr lang="en-US" altLang="en-US"/>
              <a:t>Click to edit Master text styles</a:t>
            </a:r>
          </a:p>
          <a:p>
            <a:pPr lvl="1"/>
            <a:r>
              <a:rPr lang="en-US" altLang="en-US"/>
              <a:t>Second level</a:t>
            </a:r>
          </a:p>
          <a:p>
            <a:pPr lvl="2"/>
            <a:r>
              <a:rPr lang="en-US" altLang="en-US"/>
              <a:t>Third level</a:t>
            </a:r>
          </a:p>
        </p:txBody>
      </p:sp>
      <p:cxnSp>
        <p:nvCxnSpPr>
          <p:cNvPr id="9" name="Straight Connector 8">
            <a:extLst>
              <a:ext uri="{FF2B5EF4-FFF2-40B4-BE49-F238E27FC236}">
                <a16:creationId xmlns:a16="http://schemas.microsoft.com/office/drawing/2014/main" id="{77D617F3-0CC2-4F44-8BC5-4D2483CE7279}"/>
              </a:ext>
            </a:extLst>
          </p:cNvPr>
          <p:cNvCxnSpPr>
            <a:cxnSpLocks/>
          </p:cNvCxnSpPr>
          <p:nvPr/>
        </p:nvCxnSpPr>
        <p:spPr bwMode="auto">
          <a:xfrm>
            <a:off x="137160" y="914400"/>
            <a:ext cx="8869680" cy="0"/>
          </a:xfrm>
          <a:prstGeom prst="line">
            <a:avLst/>
          </a:prstGeom>
          <a:ln w="63500" cmpd="thinThick">
            <a:solidFill>
              <a:srgbClr val="244463"/>
            </a:solidFill>
            <a:headEnd type="none" w="med" len="med"/>
            <a:tailEnd type="none" w="med" len="med"/>
          </a:ln>
          <a:effectLst>
            <a:outerShdw blurRad="50800" dist="38100" dir="5400000" algn="t"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
        <p:nvSpPr>
          <p:cNvPr id="10" name="Slide Number Placeholder 9">
            <a:extLst>
              <a:ext uri="{FF2B5EF4-FFF2-40B4-BE49-F238E27FC236}">
                <a16:creationId xmlns:a16="http://schemas.microsoft.com/office/drawing/2014/main" id="{CBCC94C5-CB17-4671-B92F-DB54E4C0B2D6}"/>
              </a:ext>
            </a:extLst>
          </p:cNvPr>
          <p:cNvSpPr>
            <a:spLocks noGrp="1" noChangeArrowheads="1"/>
          </p:cNvSpPr>
          <p:nvPr>
            <p:ph type="sldNum" sz="quarter" idx="4"/>
          </p:nvPr>
        </p:nvSpPr>
        <p:spPr bwMode="auto">
          <a:xfrm>
            <a:off x="6966746" y="6449812"/>
            <a:ext cx="2126454" cy="40819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solidFill>
                  <a:srgbClr val="244463"/>
                </a:solidFill>
                <a:latin typeface="Calibri" panose="020F0502020204030204" pitchFamily="34" charset="0"/>
                <a:cs typeface="Times New Roman" panose="02020603050405020304" pitchFamily="18" charset="0"/>
              </a:defRPr>
            </a:lvl1pPr>
          </a:lstStyle>
          <a:p>
            <a:pPr>
              <a:defRPr/>
            </a:pPr>
            <a:fld id="{C3099B72-DEA2-4ACC-9A6B-2F17D54AC7BB}" type="slidenum">
              <a:rPr lang="en-US" altLang="en-US" smtClean="0"/>
              <a:pPr>
                <a:defRPr/>
              </a:pPr>
              <a:t>‹#›</a:t>
            </a:fld>
            <a:endParaRPr lang="en-US" altLang="en-US" dirty="0"/>
          </a:p>
        </p:txBody>
      </p:sp>
    </p:spTree>
    <p:extLst>
      <p:ext uri="{BB962C8B-B14F-4D97-AF65-F5344CB8AC3E}">
        <p14:creationId xmlns:p14="http://schemas.microsoft.com/office/powerpoint/2010/main" val="432183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21FB4E57-A5F1-47D2-A5D5-B1D80CA09AC4}"/>
              </a:ext>
            </a:extLst>
          </p:cNvPr>
          <p:cNvSpPr>
            <a:spLocks noGrp="1" noChangeArrowheads="1"/>
          </p:cNvSpPr>
          <p:nvPr>
            <p:ph type="title" hasCustomPrompt="1"/>
          </p:nvPr>
        </p:nvSpPr>
        <p:spPr bwMode="auto">
          <a:xfrm>
            <a:off x="0" y="0"/>
            <a:ext cx="9144000" cy="9144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rgbClr val="244463"/>
                </a:solidFill>
              </a:defRPr>
            </a:lvl1pPr>
          </a:lstStyle>
          <a:p>
            <a:pPr lvl="0"/>
            <a:r>
              <a:rPr lang="en-US" altLang="en-US" dirty="0"/>
              <a:t>Click to Edit Master Title Style</a:t>
            </a:r>
          </a:p>
        </p:txBody>
      </p:sp>
      <p:cxnSp>
        <p:nvCxnSpPr>
          <p:cNvPr id="8" name="Straight Connector 7">
            <a:extLst>
              <a:ext uri="{FF2B5EF4-FFF2-40B4-BE49-F238E27FC236}">
                <a16:creationId xmlns:a16="http://schemas.microsoft.com/office/drawing/2014/main" id="{EE568712-FA51-429B-9867-9946731AA0C7}"/>
              </a:ext>
            </a:extLst>
          </p:cNvPr>
          <p:cNvCxnSpPr>
            <a:cxnSpLocks/>
          </p:cNvCxnSpPr>
          <p:nvPr/>
        </p:nvCxnSpPr>
        <p:spPr bwMode="auto">
          <a:xfrm>
            <a:off x="137160" y="914400"/>
            <a:ext cx="8869680" cy="0"/>
          </a:xfrm>
          <a:prstGeom prst="line">
            <a:avLst/>
          </a:prstGeom>
          <a:ln w="63500" cmpd="thinThick">
            <a:solidFill>
              <a:srgbClr val="244463"/>
            </a:solidFill>
            <a:headEnd type="none" w="med" len="med"/>
            <a:tailEnd type="none" w="med" len="med"/>
          </a:ln>
          <a:effectLst>
            <a:outerShdw blurRad="50800" dist="38100" dir="5400000" algn="t"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
        <p:nvSpPr>
          <p:cNvPr id="3" name="Content Placeholder 2"/>
          <p:cNvSpPr>
            <a:spLocks noGrp="1"/>
          </p:cNvSpPr>
          <p:nvPr>
            <p:ph idx="1"/>
          </p:nvPr>
        </p:nvSpPr>
        <p:spPr>
          <a:xfrm>
            <a:off x="0" y="1143004"/>
            <a:ext cx="9144000" cy="4525963"/>
          </a:xfrm>
        </p:spPr>
        <p:txBody>
          <a:bodyPr/>
          <a:lstStyle>
            <a:lvl1pPr marL="365760" indent="-274320" algn="l" rtl="0" eaLnBrk="1" fontAlgn="base" hangingPunct="1">
              <a:spcBef>
                <a:spcPct val="20000"/>
              </a:spcBef>
              <a:spcAft>
                <a:spcPct val="0"/>
              </a:spcAft>
              <a:buClrTx/>
              <a:buFont typeface="Wingdings" panose="05000000000000000000" pitchFamily="2" charset="2"/>
              <a:buChar char="§"/>
              <a:defRPr lang="en-US" altLang="en-US" sz="2000" b="0" dirty="0" smtClean="0">
                <a:solidFill>
                  <a:schemeClr val="tx1"/>
                </a:solidFill>
                <a:latin typeface="Calibri" panose="020F0502020204030204" pitchFamily="34" charset="0"/>
                <a:ea typeface="+mn-ea"/>
                <a:cs typeface="+mn-cs"/>
              </a:defRPr>
            </a:lvl1pPr>
            <a:lvl2pPr marL="640080" indent="-274320" algn="l" rtl="0" eaLnBrk="1" fontAlgn="base" hangingPunct="1">
              <a:spcBef>
                <a:spcPct val="20000"/>
              </a:spcBef>
              <a:spcAft>
                <a:spcPct val="0"/>
              </a:spcAft>
              <a:buClrTx/>
              <a:buFont typeface="Wingdings" panose="05000000000000000000" pitchFamily="2" charset="2"/>
              <a:buChar char="§"/>
              <a:defRPr lang="en-US" altLang="en-US" sz="2000" b="0" dirty="0" smtClean="0">
                <a:solidFill>
                  <a:schemeClr val="tx1"/>
                </a:solidFill>
                <a:latin typeface="Calibri" panose="020F0502020204030204" pitchFamily="34" charset="0"/>
                <a:ea typeface="+mn-ea"/>
                <a:cs typeface="+mn-cs"/>
              </a:defRPr>
            </a:lvl2pPr>
            <a:lvl3pPr marL="914400" indent="-274320" algn="l" rtl="0" eaLnBrk="1" fontAlgn="base" hangingPunct="1">
              <a:spcBef>
                <a:spcPct val="20000"/>
              </a:spcBef>
              <a:spcAft>
                <a:spcPct val="0"/>
              </a:spcAft>
              <a:buClrTx/>
              <a:buFont typeface="Wingdings" panose="05000000000000000000" pitchFamily="2" charset="2"/>
              <a:buChar char="§"/>
              <a:defRPr lang="en-US" sz="2000" b="0" dirty="0" smtClean="0">
                <a:solidFill>
                  <a:schemeClr val="tx1"/>
                </a:solidFill>
                <a:latin typeface="Calibri" panose="020F0502020204030204" pitchFamily="34" charset="0"/>
                <a:ea typeface="+mn-ea"/>
                <a:cs typeface="+mn-cs"/>
              </a:defRPr>
            </a:lvl3pPr>
            <a:lvl4pPr marL="1600200" indent="-228600">
              <a:buClrTx/>
              <a:buFont typeface="Wingdings" pitchFamily="2" charset="2"/>
              <a:buChar char="§"/>
              <a:defRPr b="0">
                <a:latin typeface="Calibri Light" panose="020F0302020204030204" pitchFamily="34" charset="0"/>
              </a:defRPr>
            </a:lvl4pPr>
            <a:lvl5pPr marL="2057400" indent="-228600">
              <a:buClrTx/>
              <a:buFont typeface="Wingdings" pitchFamily="2" charset="2"/>
              <a:buChar char="§"/>
              <a:defRPr b="0">
                <a:latin typeface="Calibri Light" panose="020F0302020204030204" pitchFamily="34" charset="0"/>
              </a:defRPr>
            </a:lvl5pPr>
          </a:lstStyle>
          <a:p>
            <a:pPr lvl="0"/>
            <a:r>
              <a:rPr lang="en-US" altLang="en-US"/>
              <a:t>Click to edit Master text styles</a:t>
            </a:r>
          </a:p>
          <a:p>
            <a:pPr lvl="1"/>
            <a:r>
              <a:rPr lang="en-US" altLang="en-US"/>
              <a:t>Second level</a:t>
            </a:r>
          </a:p>
          <a:p>
            <a:pPr lvl="2"/>
            <a:r>
              <a:rPr lang="en-US" altLang="en-US"/>
              <a:t>Third level</a:t>
            </a:r>
          </a:p>
        </p:txBody>
      </p:sp>
      <p:sp>
        <p:nvSpPr>
          <p:cNvPr id="7" name="Rectangle 9">
            <a:extLst>
              <a:ext uri="{FF2B5EF4-FFF2-40B4-BE49-F238E27FC236}">
                <a16:creationId xmlns:a16="http://schemas.microsoft.com/office/drawing/2014/main" id="{235F0151-101E-4E49-A09C-C8AE676D0832}"/>
              </a:ext>
            </a:extLst>
          </p:cNvPr>
          <p:cNvSpPr>
            <a:spLocks noGrp="1" noChangeArrowheads="1"/>
          </p:cNvSpPr>
          <p:nvPr>
            <p:ph type="sldNum" sz="quarter" idx="4"/>
          </p:nvPr>
        </p:nvSpPr>
        <p:spPr bwMode="auto">
          <a:xfrm>
            <a:off x="6966746" y="6449812"/>
            <a:ext cx="2126454" cy="40819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solidFill>
                  <a:srgbClr val="244463"/>
                </a:solidFill>
                <a:latin typeface="Calibri" panose="020F0502020204030204" pitchFamily="34" charset="0"/>
                <a:cs typeface="Times New Roman" panose="02020603050405020304" pitchFamily="18" charset="0"/>
              </a:defRPr>
            </a:lvl1pPr>
          </a:lstStyle>
          <a:p>
            <a:pPr>
              <a:defRPr/>
            </a:pPr>
            <a:fld id="{C3099B72-DEA2-4ACC-9A6B-2F17D54AC7BB}" type="slidenum">
              <a:rPr lang="en-US" altLang="en-US" smtClean="0"/>
              <a:pPr>
                <a:defRPr/>
              </a:pPr>
              <a:t>‹#›</a:t>
            </a:fld>
            <a:endParaRPr lang="en-US" altLang="en-US" dirty="0"/>
          </a:p>
        </p:txBody>
      </p:sp>
    </p:spTree>
    <p:extLst>
      <p:ext uri="{BB962C8B-B14F-4D97-AF65-F5344CB8AC3E}">
        <p14:creationId xmlns:p14="http://schemas.microsoft.com/office/powerpoint/2010/main" val="1989139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o Header">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0053DED-592C-402C-992E-6DF703E6FF5D}"/>
              </a:ext>
            </a:extLst>
          </p:cNvPr>
          <p:cNvSpPr>
            <a:spLocks noGrp="1" noChangeArrowheads="1"/>
          </p:cNvSpPr>
          <p:nvPr>
            <p:ph idx="1"/>
          </p:nvPr>
        </p:nvSpPr>
        <p:spPr bwMode="auto">
          <a:xfrm>
            <a:off x="0" y="0"/>
            <a:ext cx="9144000" cy="4529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2pPr marL="640080">
              <a:defRPr/>
            </a:lvl2pPr>
          </a:lstStyle>
          <a:p>
            <a:pPr lvl="0"/>
            <a:r>
              <a:rPr lang="en-US" altLang="en-US"/>
              <a:t>Click to edit Master text styles</a:t>
            </a:r>
          </a:p>
          <a:p>
            <a:pPr lvl="1"/>
            <a:r>
              <a:rPr lang="en-US" altLang="en-US"/>
              <a:t>Second level</a:t>
            </a:r>
          </a:p>
          <a:p>
            <a:pPr lvl="2"/>
            <a:r>
              <a:rPr lang="en-US" altLang="en-US"/>
              <a:t>Third level</a:t>
            </a:r>
          </a:p>
        </p:txBody>
      </p:sp>
      <p:sp>
        <p:nvSpPr>
          <p:cNvPr id="5" name="Rectangle 9">
            <a:extLst>
              <a:ext uri="{FF2B5EF4-FFF2-40B4-BE49-F238E27FC236}">
                <a16:creationId xmlns:a16="http://schemas.microsoft.com/office/drawing/2014/main" id="{F41F2FC0-4BFA-43D4-ADA7-2346DC154FF2}"/>
              </a:ext>
            </a:extLst>
          </p:cNvPr>
          <p:cNvSpPr>
            <a:spLocks noGrp="1" noChangeArrowheads="1"/>
          </p:cNvSpPr>
          <p:nvPr>
            <p:ph type="sldNum" sz="quarter" idx="4"/>
          </p:nvPr>
        </p:nvSpPr>
        <p:spPr bwMode="auto">
          <a:xfrm>
            <a:off x="6966746" y="6449812"/>
            <a:ext cx="2126454" cy="40819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solidFill>
                  <a:srgbClr val="244463"/>
                </a:solidFill>
                <a:latin typeface="Calibri" panose="020F0502020204030204" pitchFamily="34" charset="0"/>
                <a:cs typeface="Times New Roman" panose="02020603050405020304" pitchFamily="18" charset="0"/>
              </a:defRPr>
            </a:lvl1pPr>
          </a:lstStyle>
          <a:p>
            <a:pPr>
              <a:defRPr/>
            </a:pPr>
            <a:fld id="{C3099B72-DEA2-4ACC-9A6B-2F17D54AC7BB}" type="slidenum">
              <a:rPr lang="en-US" altLang="en-US" smtClean="0"/>
              <a:pPr>
                <a:defRPr/>
              </a:pPr>
              <a:t>‹#›</a:t>
            </a:fld>
            <a:endParaRPr lang="en-US" altLang="en-US" dirty="0"/>
          </a:p>
        </p:txBody>
      </p:sp>
    </p:spTree>
    <p:extLst>
      <p:ext uri="{BB962C8B-B14F-4D97-AF65-F5344CB8AC3E}">
        <p14:creationId xmlns:p14="http://schemas.microsoft.com/office/powerpoint/2010/main" val="2662826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1905000"/>
            <a:ext cx="9144000" cy="990600"/>
          </a:xfrm>
          <a:prstGeom prst="rect">
            <a:avLst/>
          </a:prstGeom>
        </p:spPr>
        <p:txBody>
          <a:bodyPr anchor="ctr"/>
          <a:lstStyle>
            <a:lvl1pPr algn="ctr">
              <a:defRPr sz="3200" b="1" cap="all">
                <a:solidFill>
                  <a:srgbClr val="023C67"/>
                </a:solidFill>
                <a:effectLst/>
                <a:latin typeface="Calibri" panose="020F0502020204030204" pitchFamily="34" charset="0"/>
              </a:defRPr>
            </a:lvl1pPr>
          </a:lstStyle>
          <a:p>
            <a:r>
              <a:rPr lang="en-US" dirty="0"/>
              <a:t>Click to edit Master title style</a:t>
            </a:r>
            <a:endParaRPr lang="he-IL" dirty="0"/>
          </a:p>
        </p:txBody>
      </p:sp>
      <p:sp>
        <p:nvSpPr>
          <p:cNvPr id="7" name="Text Placeholder 6">
            <a:extLst>
              <a:ext uri="{FF2B5EF4-FFF2-40B4-BE49-F238E27FC236}">
                <a16:creationId xmlns:a16="http://schemas.microsoft.com/office/drawing/2014/main" id="{89394818-D2B8-4386-AFB4-F13368E0FACD}"/>
              </a:ext>
            </a:extLst>
          </p:cNvPr>
          <p:cNvSpPr>
            <a:spLocks noGrp="1"/>
          </p:cNvSpPr>
          <p:nvPr>
            <p:ph type="body" sz="quarter" idx="10" hasCustomPrompt="1"/>
          </p:nvPr>
        </p:nvSpPr>
        <p:spPr>
          <a:xfrm>
            <a:off x="0" y="2895600"/>
            <a:ext cx="9144000" cy="990600"/>
          </a:xfrm>
        </p:spPr>
        <p:txBody>
          <a:bodyPr/>
          <a:lstStyle>
            <a:lvl1pPr marL="91440" indent="0" algn="ctr">
              <a:buNone/>
              <a:defRPr lang="en-US" sz="2400" b="1" cap="none" dirty="0">
                <a:solidFill>
                  <a:srgbClr val="023C67"/>
                </a:solidFill>
                <a:effectLst/>
                <a:latin typeface="Calibri" panose="020F0502020204030204" pitchFamily="34" charset="0"/>
                <a:ea typeface="+mj-ea"/>
                <a:cs typeface="+mj-cs"/>
              </a:defRPr>
            </a:lvl1pPr>
          </a:lstStyle>
          <a:p>
            <a:pPr lvl="0"/>
            <a:r>
              <a:rPr lang="en-US" dirty="0"/>
              <a:t>Chapter </a:t>
            </a:r>
          </a:p>
        </p:txBody>
      </p:sp>
    </p:spTree>
    <p:extLst>
      <p:ext uri="{BB962C8B-B14F-4D97-AF65-F5344CB8AC3E}">
        <p14:creationId xmlns:p14="http://schemas.microsoft.com/office/powerpoint/2010/main" val="1343447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742E9-5695-438B-82F3-806C66CBA9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258832-1373-4AE4-AA4A-9FA0931DD4DF}"/>
              </a:ext>
            </a:extLst>
          </p:cNvPr>
          <p:cNvSpPr>
            <a:spLocks noGrp="1"/>
          </p:cNvSpPr>
          <p:nvPr>
            <p:ph type="dt" sz="half" idx="10"/>
          </p:nvPr>
        </p:nvSpPr>
        <p:spPr/>
        <p:txBody>
          <a:bodyPr/>
          <a:lstStyle/>
          <a:p>
            <a:fld id="{C9296560-EE3C-418D-93A8-4A9C51F16198}" type="datetime1">
              <a:rPr lang="en-US" smtClean="0"/>
              <a:t>11/10/2025</a:t>
            </a:fld>
            <a:endParaRPr lang="en-US"/>
          </a:p>
        </p:txBody>
      </p:sp>
      <p:sp>
        <p:nvSpPr>
          <p:cNvPr id="4" name="Footer Placeholder 3">
            <a:extLst>
              <a:ext uri="{FF2B5EF4-FFF2-40B4-BE49-F238E27FC236}">
                <a16:creationId xmlns:a16="http://schemas.microsoft.com/office/drawing/2014/main" id="{EC414E1F-96EF-466F-A4CA-03357FAF16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20C309-099A-4330-A729-BF4C2463CBDC}"/>
              </a:ext>
            </a:extLst>
          </p:cNvPr>
          <p:cNvSpPr>
            <a:spLocks noGrp="1"/>
          </p:cNvSpPr>
          <p:nvPr>
            <p:ph type="sldNum" sz="quarter" idx="12"/>
          </p:nvPr>
        </p:nvSpPr>
        <p:spPr/>
        <p:txBody>
          <a:bodyPr/>
          <a:lstStyle/>
          <a:p>
            <a:fld id="{D85066CB-42DE-45F8-80C5-A0A50F2BFB8D}" type="slidenum">
              <a:rPr lang="en-US" smtClean="0"/>
              <a:t>‹#›</a:t>
            </a:fld>
            <a:endParaRPr lang="en-US"/>
          </a:p>
        </p:txBody>
      </p:sp>
    </p:spTree>
    <p:extLst>
      <p:ext uri="{BB962C8B-B14F-4D97-AF65-F5344CB8AC3E}">
        <p14:creationId xmlns:p14="http://schemas.microsoft.com/office/powerpoint/2010/main" val="904302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_Pag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3B187BB-C92E-43B4-85A0-312474AA3D38}"/>
              </a:ext>
            </a:extLst>
          </p:cNvPr>
          <p:cNvSpPr>
            <a:spLocks noGrp="1"/>
          </p:cNvSpPr>
          <p:nvPr>
            <p:ph sz="quarter" idx="10"/>
          </p:nvPr>
        </p:nvSpPr>
        <p:spPr>
          <a:xfrm>
            <a:off x="2498" y="5791200"/>
            <a:ext cx="9144000" cy="1066800"/>
          </a:xfrm>
          <a:solidFill>
            <a:schemeClr val="tx2">
              <a:lumMod val="50000"/>
            </a:schemeClr>
          </a:solidFill>
        </p:spPr>
        <p:txBody>
          <a:bodyPr anchor="ctr"/>
          <a:lstStyle>
            <a:lvl1pPr marL="0" indent="0" algn="ctr">
              <a:buNone/>
              <a:defRPr>
                <a:solidFill>
                  <a:schemeClr val="bg1"/>
                </a:solidFill>
                <a:latin typeface="Cambria" panose="02040503050406030204" pitchFamily="18" charset="0"/>
                <a:ea typeface="Cambria" panose="02040503050406030204" pitchFamily="18" charset="0"/>
              </a:defRPr>
            </a:lvl1pPr>
            <a:lvl2pPr marL="457200" indent="0" algn="ctr">
              <a:buNone/>
              <a:defRPr>
                <a:solidFill>
                  <a:schemeClr val="bg1"/>
                </a:solidFill>
                <a:latin typeface="Cambria" panose="02040503050406030204" pitchFamily="18" charset="0"/>
                <a:ea typeface="Cambria" panose="02040503050406030204" pitchFamily="18" charset="0"/>
              </a:defRPr>
            </a:lvl2pPr>
          </a:lstStyle>
          <a:p>
            <a:pPr lvl="0"/>
            <a:r>
              <a:rPr lang="en-US" dirty="0"/>
              <a:t>Click to edit Master text styles</a:t>
            </a:r>
          </a:p>
          <a:p>
            <a:pPr lvl="1"/>
            <a:r>
              <a:rPr lang="en-US" dirty="0"/>
              <a:t>Second level</a:t>
            </a:r>
          </a:p>
        </p:txBody>
      </p:sp>
      <p:sp>
        <p:nvSpPr>
          <p:cNvPr id="7" name="Content Placeholder 5">
            <a:extLst>
              <a:ext uri="{FF2B5EF4-FFF2-40B4-BE49-F238E27FC236}">
                <a16:creationId xmlns:a16="http://schemas.microsoft.com/office/drawing/2014/main" id="{3B810408-49D6-44C0-88B5-7E04B7C5BCD3}"/>
              </a:ext>
            </a:extLst>
          </p:cNvPr>
          <p:cNvSpPr>
            <a:spLocks noGrp="1"/>
          </p:cNvSpPr>
          <p:nvPr>
            <p:ph sz="quarter" idx="11"/>
          </p:nvPr>
        </p:nvSpPr>
        <p:spPr>
          <a:xfrm>
            <a:off x="-6246" y="0"/>
            <a:ext cx="9144000" cy="1066800"/>
          </a:xfrm>
          <a:solidFill>
            <a:schemeClr val="tx2">
              <a:lumMod val="50000"/>
            </a:schemeClr>
          </a:solidFill>
        </p:spPr>
        <p:txBody>
          <a:bodyPr anchor="ctr"/>
          <a:lstStyle>
            <a:lvl1pPr marL="0" indent="0" algn="ctr">
              <a:buNone/>
              <a:defRPr b="1">
                <a:solidFill>
                  <a:schemeClr val="bg1"/>
                </a:solidFill>
              </a:defRPr>
            </a:lvl1pPr>
            <a:lvl2pPr marL="457200" indent="0" algn="ctr">
              <a:buNone/>
              <a:defRPr b="1">
                <a:solidFill>
                  <a:schemeClr val="bg1"/>
                </a:solidFill>
              </a:defRPr>
            </a:lvl2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9599514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0" y="1143000"/>
            <a:ext cx="9144000" cy="4373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p:txBody>
      </p:sp>
      <p:cxnSp>
        <p:nvCxnSpPr>
          <p:cNvPr id="10" name="Straight Connector 9"/>
          <p:cNvCxnSpPr>
            <a:cxnSpLocks/>
          </p:cNvCxnSpPr>
          <p:nvPr userDrawn="1"/>
        </p:nvCxnSpPr>
        <p:spPr bwMode="auto">
          <a:xfrm>
            <a:off x="1051562" y="6377708"/>
            <a:ext cx="7952511" cy="0"/>
          </a:xfrm>
          <a:prstGeom prst="line">
            <a:avLst/>
          </a:prstGeom>
          <a:ln w="38100" cmpd="thinThick">
            <a:solidFill>
              <a:srgbClr val="244463"/>
            </a:solidFill>
            <a:prstDash val="solid"/>
            <a:headEnd type="none" w="med" len="med"/>
            <a:tailEnd type="none" w="med" len="med"/>
          </a:ln>
          <a:effectLst>
            <a:outerShdw blurRad="50800" dist="38100" dir="5400000" algn="t"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
        <p:nvSpPr>
          <p:cNvPr id="17" name="Rectangle 9"/>
          <p:cNvSpPr>
            <a:spLocks noGrp="1" noChangeArrowheads="1"/>
          </p:cNvSpPr>
          <p:nvPr>
            <p:ph type="sldNum" sz="quarter" idx="4"/>
          </p:nvPr>
        </p:nvSpPr>
        <p:spPr bwMode="auto">
          <a:xfrm>
            <a:off x="6966746" y="6449812"/>
            <a:ext cx="2126454" cy="40819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solidFill>
                  <a:srgbClr val="244463"/>
                </a:solidFill>
                <a:latin typeface="Calibri" panose="020F0502020204030204" pitchFamily="34" charset="0"/>
                <a:cs typeface="Times New Roman" panose="02020603050405020304" pitchFamily="18" charset="0"/>
              </a:defRPr>
            </a:lvl1pPr>
          </a:lstStyle>
          <a:p>
            <a:pPr>
              <a:defRPr/>
            </a:pPr>
            <a:fld id="{C3099B72-DEA2-4ACC-9A6B-2F17D54AC7BB}" type="slidenum">
              <a:rPr lang="en-US" altLang="en-US" smtClean="0"/>
              <a:pPr>
                <a:defRPr/>
              </a:pPr>
              <a:t>‹#›</a:t>
            </a:fld>
            <a:endParaRPr lang="en-US" altLang="en-US" dirty="0"/>
          </a:p>
        </p:txBody>
      </p:sp>
      <p:sp>
        <p:nvSpPr>
          <p:cNvPr id="4" name="TextBox 3">
            <a:extLst>
              <a:ext uri="{FF2B5EF4-FFF2-40B4-BE49-F238E27FC236}">
                <a16:creationId xmlns:a16="http://schemas.microsoft.com/office/drawing/2014/main" id="{287D2F7D-ACFB-43AC-8504-1FC52BD76DDF}"/>
              </a:ext>
            </a:extLst>
          </p:cNvPr>
          <p:cNvSpPr txBox="1"/>
          <p:nvPr userDrawn="1"/>
        </p:nvSpPr>
        <p:spPr>
          <a:xfrm>
            <a:off x="953549" y="6449813"/>
            <a:ext cx="3505200" cy="307777"/>
          </a:xfrm>
          <a:prstGeom prst="rect">
            <a:avLst/>
          </a:prstGeom>
          <a:noFill/>
        </p:spPr>
        <p:txBody>
          <a:bodyPr wrap="square" rtlCol="0">
            <a:spAutoFit/>
          </a:bodyPr>
          <a:lstStyle/>
          <a:p>
            <a:r>
              <a:rPr lang="en-US" sz="1400" dirty="0">
                <a:solidFill>
                  <a:srgbClr val="244463"/>
                </a:solidFill>
                <a:latin typeface="Calibri" panose="020F0502020204030204" pitchFamily="34" charset="0"/>
                <a:cs typeface="Times New Roman" panose="02020603050405020304" pitchFamily="18" charset="0"/>
              </a:rPr>
              <a:t>Department of Math &amp; CS</a:t>
            </a:r>
          </a:p>
        </p:txBody>
      </p:sp>
      <p:cxnSp>
        <p:nvCxnSpPr>
          <p:cNvPr id="7" name="Straight Connector 6">
            <a:extLst>
              <a:ext uri="{FF2B5EF4-FFF2-40B4-BE49-F238E27FC236}">
                <a16:creationId xmlns:a16="http://schemas.microsoft.com/office/drawing/2014/main" id="{2BEC8FD7-E37F-4DFF-BDD1-CC3873FB19E2}"/>
              </a:ext>
            </a:extLst>
          </p:cNvPr>
          <p:cNvCxnSpPr>
            <a:cxnSpLocks/>
          </p:cNvCxnSpPr>
          <p:nvPr userDrawn="1"/>
        </p:nvCxnSpPr>
        <p:spPr bwMode="auto">
          <a:xfrm>
            <a:off x="1051562" y="6377708"/>
            <a:ext cx="7952511" cy="0"/>
          </a:xfrm>
          <a:prstGeom prst="line">
            <a:avLst/>
          </a:prstGeom>
          <a:ln w="38100">
            <a:noFill/>
            <a:headEnd type="none" w="med" len="med"/>
            <a:tailEnd type="none" w="med" len="med"/>
          </a:ln>
          <a:effectLst/>
        </p:spPr>
        <p:style>
          <a:lnRef idx="3">
            <a:schemeClr val="accent2"/>
          </a:lnRef>
          <a:fillRef idx="0">
            <a:schemeClr val="accent2"/>
          </a:fillRef>
          <a:effectRef idx="2">
            <a:schemeClr val="accent2"/>
          </a:effectRef>
          <a:fontRef idx="minor">
            <a:schemeClr val="tx1"/>
          </a:fontRef>
        </p:style>
      </p:cxnSp>
      <p:pic>
        <p:nvPicPr>
          <p:cNvPr id="5" name="Picture 4" descr="A logo of a university&#10;&#10;Description automatically generated">
            <a:extLst>
              <a:ext uri="{FF2B5EF4-FFF2-40B4-BE49-F238E27FC236}">
                <a16:creationId xmlns:a16="http://schemas.microsoft.com/office/drawing/2014/main" id="{7AA9FCB5-6FA9-12FC-370B-5D5EE671C97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3872" y="5920508"/>
            <a:ext cx="920853" cy="914400"/>
          </a:xfrm>
          <a:prstGeom prst="rect">
            <a:avLst/>
          </a:prstGeom>
        </p:spPr>
      </p:pic>
    </p:spTree>
    <p:extLst>
      <p:ext uri="{BB962C8B-B14F-4D97-AF65-F5344CB8AC3E}">
        <p14:creationId xmlns:p14="http://schemas.microsoft.com/office/powerpoint/2010/main" val="2272864253"/>
      </p:ext>
    </p:extLst>
  </p:cSld>
  <p:clrMap bg1="lt1" tx1="dk1" bg2="lt2" tx2="dk2" accent1="accent1" accent2="accent2" accent3="accent3" accent4="accent4" accent5="accent5" accent6="accent6" hlink="hlink" folHlink="folHlink"/>
  <p:sldLayoutIdLst>
    <p:sldLayoutId id="2147483996" r:id="rId1"/>
    <p:sldLayoutId id="2147483995" r:id="rId2"/>
    <p:sldLayoutId id="2147483997" r:id="rId3"/>
    <p:sldLayoutId id="2147483979" r:id="rId4"/>
    <p:sldLayoutId id="2147484007" r:id="rId5"/>
  </p:sldLayoutIdLst>
  <p:hf hdr="0" ftr="0" dt="0"/>
  <p:txStyles>
    <p:titleStyle>
      <a:lvl1pPr algn="ctr" rtl="0" eaLnBrk="1" fontAlgn="base" hangingPunct="1">
        <a:spcBef>
          <a:spcPct val="0"/>
        </a:spcBef>
        <a:spcAft>
          <a:spcPct val="0"/>
        </a:spcAft>
        <a:defRPr sz="2800" b="1">
          <a:solidFill>
            <a:srgbClr val="023C67"/>
          </a:solidFill>
          <a:latin typeface="Calibri" panose="020F0502020204030204" pitchFamily="34" charset="0"/>
          <a:ea typeface="+mj-ea"/>
          <a:cs typeface="+mj-cs"/>
        </a:defRPr>
      </a:lvl1pPr>
      <a:lvl2pPr algn="ctr" rtl="0" eaLnBrk="1" fontAlgn="base" hangingPunct="1">
        <a:spcBef>
          <a:spcPct val="0"/>
        </a:spcBef>
        <a:spcAft>
          <a:spcPct val="0"/>
        </a:spcAft>
        <a:defRPr sz="3600" b="1">
          <a:solidFill>
            <a:srgbClr val="023C67"/>
          </a:solidFill>
          <a:latin typeface="Arial" pitchFamily="34" charset="0"/>
          <a:cs typeface="Arial" pitchFamily="34" charset="0"/>
        </a:defRPr>
      </a:lvl2pPr>
      <a:lvl3pPr algn="ctr" rtl="0" eaLnBrk="1" fontAlgn="base" hangingPunct="1">
        <a:spcBef>
          <a:spcPct val="0"/>
        </a:spcBef>
        <a:spcAft>
          <a:spcPct val="0"/>
        </a:spcAft>
        <a:defRPr sz="3600" b="1">
          <a:solidFill>
            <a:srgbClr val="023C67"/>
          </a:solidFill>
          <a:latin typeface="Arial" pitchFamily="34" charset="0"/>
          <a:cs typeface="Arial" pitchFamily="34" charset="0"/>
        </a:defRPr>
      </a:lvl3pPr>
      <a:lvl4pPr algn="ctr" rtl="0" eaLnBrk="1" fontAlgn="base" hangingPunct="1">
        <a:spcBef>
          <a:spcPct val="0"/>
        </a:spcBef>
        <a:spcAft>
          <a:spcPct val="0"/>
        </a:spcAft>
        <a:defRPr sz="3600" b="1">
          <a:solidFill>
            <a:srgbClr val="023C67"/>
          </a:solidFill>
          <a:latin typeface="Arial" pitchFamily="34" charset="0"/>
          <a:cs typeface="Arial" pitchFamily="34" charset="0"/>
        </a:defRPr>
      </a:lvl4pPr>
      <a:lvl5pPr algn="ctr" rtl="0" eaLnBrk="1" fontAlgn="base" hangingPunct="1">
        <a:spcBef>
          <a:spcPct val="0"/>
        </a:spcBef>
        <a:spcAft>
          <a:spcPct val="0"/>
        </a:spcAft>
        <a:defRPr sz="3600" b="1">
          <a:solidFill>
            <a:srgbClr val="023C67"/>
          </a:solidFill>
          <a:latin typeface="Arial" pitchFamily="34" charset="0"/>
          <a:cs typeface="Arial" pitchFamily="34" charset="0"/>
        </a:defRPr>
      </a:lvl5pPr>
      <a:lvl6pPr marL="457200" algn="ctr" rtl="0" eaLnBrk="1" fontAlgn="base" hangingPunct="1">
        <a:spcBef>
          <a:spcPct val="0"/>
        </a:spcBef>
        <a:spcAft>
          <a:spcPct val="0"/>
        </a:spcAft>
        <a:defRPr sz="4400" b="1">
          <a:solidFill>
            <a:srgbClr val="270A70"/>
          </a:solidFill>
          <a:latin typeface="Arial" pitchFamily="34" charset="0"/>
          <a:cs typeface="Arial" pitchFamily="34" charset="0"/>
        </a:defRPr>
      </a:lvl6pPr>
      <a:lvl7pPr marL="914400" algn="ctr" rtl="0" eaLnBrk="1" fontAlgn="base" hangingPunct="1">
        <a:spcBef>
          <a:spcPct val="0"/>
        </a:spcBef>
        <a:spcAft>
          <a:spcPct val="0"/>
        </a:spcAft>
        <a:defRPr sz="4400" b="1">
          <a:solidFill>
            <a:srgbClr val="270A70"/>
          </a:solidFill>
          <a:latin typeface="Arial" pitchFamily="34" charset="0"/>
          <a:cs typeface="Arial" pitchFamily="34" charset="0"/>
        </a:defRPr>
      </a:lvl7pPr>
      <a:lvl8pPr marL="1371600" algn="ctr" rtl="0" eaLnBrk="1" fontAlgn="base" hangingPunct="1">
        <a:spcBef>
          <a:spcPct val="0"/>
        </a:spcBef>
        <a:spcAft>
          <a:spcPct val="0"/>
        </a:spcAft>
        <a:defRPr sz="4400" b="1">
          <a:solidFill>
            <a:srgbClr val="270A70"/>
          </a:solidFill>
          <a:latin typeface="Arial" pitchFamily="34" charset="0"/>
          <a:cs typeface="Arial" pitchFamily="34" charset="0"/>
        </a:defRPr>
      </a:lvl8pPr>
      <a:lvl9pPr marL="1828800" algn="ctr" rtl="0" eaLnBrk="1" fontAlgn="base" hangingPunct="1">
        <a:spcBef>
          <a:spcPct val="0"/>
        </a:spcBef>
        <a:spcAft>
          <a:spcPct val="0"/>
        </a:spcAft>
        <a:defRPr sz="4400" b="1">
          <a:solidFill>
            <a:srgbClr val="270A70"/>
          </a:solidFill>
          <a:latin typeface="Arial" pitchFamily="34" charset="0"/>
          <a:cs typeface="Arial" pitchFamily="34" charset="0"/>
        </a:defRPr>
      </a:lvl9pPr>
    </p:titleStyle>
    <p:bodyStyle>
      <a:lvl1pPr marL="365760" indent="-274320" algn="l" rtl="0" eaLnBrk="1" fontAlgn="base" hangingPunct="1">
        <a:spcBef>
          <a:spcPct val="20000"/>
        </a:spcBef>
        <a:spcAft>
          <a:spcPct val="0"/>
        </a:spcAft>
        <a:buFont typeface="Wingdings" panose="05000000000000000000" pitchFamily="2" charset="2"/>
        <a:buChar char="§"/>
        <a:defRPr sz="2000" b="0">
          <a:solidFill>
            <a:schemeClr val="tx1"/>
          </a:solidFill>
          <a:latin typeface="Calibri" panose="020F0502020204030204" pitchFamily="34" charset="0"/>
          <a:ea typeface="+mn-ea"/>
          <a:cs typeface="+mn-cs"/>
        </a:defRPr>
      </a:lvl1pPr>
      <a:lvl2pPr marL="640080" indent="-274320" algn="l" rtl="0" eaLnBrk="1" fontAlgn="base" hangingPunct="1">
        <a:spcBef>
          <a:spcPct val="20000"/>
        </a:spcBef>
        <a:spcAft>
          <a:spcPct val="0"/>
        </a:spcAft>
        <a:buFont typeface="Wingdings" panose="05000000000000000000" pitchFamily="2" charset="2"/>
        <a:buChar char="§"/>
        <a:defRPr sz="2000" b="0">
          <a:solidFill>
            <a:schemeClr val="tx1"/>
          </a:solidFill>
          <a:latin typeface="Calibri" panose="020F0502020204030204" pitchFamily="34" charset="0"/>
          <a:cs typeface="+mn-cs"/>
        </a:defRPr>
      </a:lvl2pPr>
      <a:lvl3pPr marL="914400" indent="-274320" algn="l" rtl="0" eaLnBrk="1" fontAlgn="base" hangingPunct="1">
        <a:spcBef>
          <a:spcPct val="20000"/>
        </a:spcBef>
        <a:spcAft>
          <a:spcPct val="0"/>
        </a:spcAft>
        <a:buFont typeface="Wingdings" panose="05000000000000000000" pitchFamily="2" charset="2"/>
        <a:buChar char="§"/>
        <a:defRPr sz="2000" b="0">
          <a:solidFill>
            <a:schemeClr val="tx1"/>
          </a:solidFill>
          <a:latin typeface="Calibri" panose="020F0502020204030204" pitchFamily="34" charset="0"/>
          <a:cs typeface="+mn-cs"/>
        </a:defRPr>
      </a:lvl3pPr>
      <a:lvl4pPr marL="1600200" indent="-228600" algn="l" rtl="0" eaLnBrk="1" fontAlgn="base" hangingPunct="1">
        <a:spcBef>
          <a:spcPct val="20000"/>
        </a:spcBef>
        <a:spcAft>
          <a:spcPct val="0"/>
        </a:spcAft>
        <a:buFont typeface="Wingdings" panose="05000000000000000000" pitchFamily="2" charset="2"/>
        <a:buChar char="§"/>
        <a:defRPr sz="2200" b="0">
          <a:solidFill>
            <a:schemeClr val="tx1"/>
          </a:solidFill>
          <a:latin typeface="Calibri Light" panose="020F0302020204030204" pitchFamily="34" charset="0"/>
          <a:cs typeface="+mn-cs"/>
        </a:defRPr>
      </a:lvl4pPr>
      <a:lvl5pPr marL="2057400" indent="-228600" algn="l" rtl="0" eaLnBrk="1" fontAlgn="base" hangingPunct="1">
        <a:spcBef>
          <a:spcPct val="20000"/>
        </a:spcBef>
        <a:spcAft>
          <a:spcPct val="0"/>
        </a:spcAft>
        <a:buFont typeface="Wingdings" panose="05000000000000000000" pitchFamily="2" charset="2"/>
        <a:buChar char="§"/>
        <a:defRPr sz="2200" b="0">
          <a:solidFill>
            <a:schemeClr val="tx1"/>
          </a:solidFill>
          <a:latin typeface="Calibri Light" panose="020F0302020204030204" pitchFamily="34" charset="0"/>
          <a:cs typeface="+mn-cs"/>
        </a:defRPr>
      </a:lvl5pPr>
      <a:lvl6pPr marL="2514600" indent="-228600" algn="l" rtl="0" eaLnBrk="1" fontAlgn="base" hangingPunct="1">
        <a:spcBef>
          <a:spcPct val="20000"/>
        </a:spcBef>
        <a:spcAft>
          <a:spcPct val="0"/>
        </a:spcAft>
        <a:buClr>
          <a:srgbClr val="4211BB"/>
        </a:buClr>
        <a:buFont typeface="Arial" pitchFamily="34" charset="0"/>
        <a:buChar char="»"/>
        <a:defRPr sz="2000">
          <a:solidFill>
            <a:schemeClr val="tx1"/>
          </a:solidFill>
          <a:latin typeface="+mn-lt"/>
          <a:cs typeface="+mn-cs"/>
        </a:defRPr>
      </a:lvl6pPr>
      <a:lvl7pPr marL="2971800" indent="-228600" algn="l" rtl="0" eaLnBrk="1" fontAlgn="base" hangingPunct="1">
        <a:spcBef>
          <a:spcPct val="20000"/>
        </a:spcBef>
        <a:spcAft>
          <a:spcPct val="0"/>
        </a:spcAft>
        <a:buClr>
          <a:srgbClr val="4211BB"/>
        </a:buClr>
        <a:buFont typeface="Arial" pitchFamily="34" charset="0"/>
        <a:buChar char="»"/>
        <a:defRPr sz="2000">
          <a:solidFill>
            <a:schemeClr val="tx1"/>
          </a:solidFill>
          <a:latin typeface="+mn-lt"/>
          <a:cs typeface="+mn-cs"/>
        </a:defRPr>
      </a:lvl7pPr>
      <a:lvl8pPr marL="3429000" indent="-228600" algn="l" rtl="0" eaLnBrk="1" fontAlgn="base" hangingPunct="1">
        <a:spcBef>
          <a:spcPct val="20000"/>
        </a:spcBef>
        <a:spcAft>
          <a:spcPct val="0"/>
        </a:spcAft>
        <a:buClr>
          <a:srgbClr val="4211BB"/>
        </a:buClr>
        <a:buFont typeface="Arial" pitchFamily="34" charset="0"/>
        <a:buChar char="»"/>
        <a:defRPr sz="2000">
          <a:solidFill>
            <a:schemeClr val="tx1"/>
          </a:solidFill>
          <a:latin typeface="+mn-lt"/>
          <a:cs typeface="+mn-cs"/>
        </a:defRPr>
      </a:lvl8pPr>
      <a:lvl9pPr marL="3886200" indent="-228600" algn="l" rtl="0" eaLnBrk="1" fontAlgn="base" hangingPunct="1">
        <a:spcBef>
          <a:spcPct val="20000"/>
        </a:spcBef>
        <a:spcAft>
          <a:spcPct val="0"/>
        </a:spcAft>
        <a:buClr>
          <a:srgbClr val="4211BB"/>
        </a:buClr>
        <a:buFont typeface="Arial" pitchFamily="34" charset="0"/>
        <a:buChar char="»"/>
        <a:defRPr sz="2000">
          <a:solidFill>
            <a:schemeClr val="tx1"/>
          </a:solidFill>
          <a:latin typeface="+mn-lt"/>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AFBBA1-4443-45EF-8DEE-D26A17D4F680}"/>
              </a:ext>
            </a:extLst>
          </p:cNvPr>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E26632-7C23-4339-BCD2-224448B5690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378118"/>
      </p:ext>
    </p:extLst>
  </p:cSld>
  <p:clrMap bg1="lt1" tx1="dk1" bg2="lt2" tx2="dk2" accent1="accent1" accent2="accent2" accent3="accent3" accent4="accent4" accent5="accent5" accent6="accent6" hlink="hlink" folHlink="folHlink"/>
  <p:sldLayoutIdLst>
    <p:sldLayoutId id="214748400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tisage/game-ll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tisage/game-ll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tisage/game-ll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4K Ultra HD PHP Coding: Master Technology with Clean Code">
            <a:extLst>
              <a:ext uri="{FF2B5EF4-FFF2-40B4-BE49-F238E27FC236}">
                <a16:creationId xmlns:a16="http://schemas.microsoft.com/office/drawing/2014/main" id="{E05A8AA4-A4EF-A7C5-2BCC-7BDEE3820F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71500"/>
            <a:ext cx="9144000" cy="5715000"/>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56C1E355-85C9-435A-B642-28682A46C0C0}"/>
              </a:ext>
            </a:extLst>
          </p:cNvPr>
          <p:cNvSpPr>
            <a:spLocks noGrp="1"/>
          </p:cNvSpPr>
          <p:nvPr>
            <p:ph sz="quarter" idx="10"/>
          </p:nvPr>
        </p:nvSpPr>
        <p:spPr>
          <a:xfrm>
            <a:off x="0" y="4953000"/>
            <a:ext cx="9144000" cy="1905000"/>
          </a:xfrm>
          <a:solidFill>
            <a:schemeClr val="tx2">
              <a:lumMod val="50000"/>
            </a:schemeClr>
          </a:solidFill>
        </p:spPr>
        <p:txBody>
          <a:bodyPr/>
          <a:lstStyle/>
          <a:p>
            <a:r>
              <a:rPr lang="en-US" dirty="0"/>
              <a:t>Department of Math &amp; Computer Science</a:t>
            </a:r>
          </a:p>
          <a:p>
            <a:r>
              <a:rPr lang="en-US" dirty="0"/>
              <a:t>Dr. Tianyu Wang</a:t>
            </a:r>
          </a:p>
        </p:txBody>
      </p:sp>
      <p:sp>
        <p:nvSpPr>
          <p:cNvPr id="6" name="Content Placeholder 5">
            <a:extLst>
              <a:ext uri="{FF2B5EF4-FFF2-40B4-BE49-F238E27FC236}">
                <a16:creationId xmlns:a16="http://schemas.microsoft.com/office/drawing/2014/main" id="{89FACAA9-4FCA-4EF6-AB0B-CB31DBEAFBB7}"/>
              </a:ext>
            </a:extLst>
          </p:cNvPr>
          <p:cNvSpPr>
            <a:spLocks noGrp="1"/>
          </p:cNvSpPr>
          <p:nvPr>
            <p:ph sz="quarter" idx="11"/>
          </p:nvPr>
        </p:nvSpPr>
        <p:spPr>
          <a:xfrm>
            <a:off x="0" y="0"/>
            <a:ext cx="9144000" cy="1066800"/>
          </a:xfrm>
          <a:solidFill>
            <a:schemeClr val="tx2">
              <a:lumMod val="50000"/>
            </a:schemeClr>
          </a:solidFill>
        </p:spPr>
        <p:txBody>
          <a:bodyPr>
            <a:normAutofit/>
          </a:bodyPr>
          <a:lstStyle/>
          <a:p>
            <a:r>
              <a:rPr lang="en-US" dirty="0"/>
              <a:t>Vibe Coding with AI</a:t>
            </a:r>
          </a:p>
          <a:p>
            <a:r>
              <a:rPr lang="en-US" dirty="0"/>
              <a:t>Building a Simple Game from Prompts</a:t>
            </a:r>
          </a:p>
        </p:txBody>
      </p:sp>
    </p:spTree>
    <p:extLst>
      <p:ext uri="{BB962C8B-B14F-4D97-AF65-F5344CB8AC3E}">
        <p14:creationId xmlns:p14="http://schemas.microsoft.com/office/powerpoint/2010/main" val="3734546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5716E-17A3-96D5-ADA7-A625867C86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C825B-9EA9-98F9-709E-B8583BC7663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C3BF0D5B-0AA6-3621-283D-C46A55553334}"/>
              </a:ext>
            </a:extLst>
          </p:cNvPr>
          <p:cNvSpPr>
            <a:spLocks noGrp="1"/>
          </p:cNvSpPr>
          <p:nvPr>
            <p:ph idx="1"/>
          </p:nvPr>
        </p:nvSpPr>
        <p:spPr>
          <a:xfrm>
            <a:off x="0" y="1143002"/>
            <a:ext cx="9144000" cy="5105398"/>
          </a:xfrm>
        </p:spPr>
        <p:txBody>
          <a:bodyPr/>
          <a:lstStyle/>
          <a:p>
            <a:pPr>
              <a:spcAft>
                <a:spcPts val="1200"/>
              </a:spcAft>
            </a:pPr>
            <a:r>
              <a:rPr lang="en-US" dirty="0">
                <a:solidFill>
                  <a:srgbClr val="000000"/>
                </a:solidFill>
                <a:cs typeface="Calibri" panose="020F0502020204030204" pitchFamily="34" charset="0"/>
              </a:rPr>
              <a:t>What is Vibe Coding</a:t>
            </a:r>
          </a:p>
          <a:p>
            <a:pPr>
              <a:spcAft>
                <a:spcPts val="1200"/>
              </a:spcAft>
            </a:pPr>
            <a:r>
              <a:rPr lang="en-US" dirty="0">
                <a:solidFill>
                  <a:srgbClr val="000000"/>
                </a:solidFill>
                <a:cs typeface="Calibri" panose="020F0502020204030204" pitchFamily="34" charset="0"/>
              </a:rPr>
              <a:t>The Art of the Prompt</a:t>
            </a:r>
          </a:p>
          <a:p>
            <a:pPr>
              <a:spcAft>
                <a:spcPts val="1200"/>
              </a:spcAft>
            </a:pPr>
            <a:r>
              <a:rPr lang="en-US" dirty="0">
                <a:solidFill>
                  <a:srgbClr val="000000"/>
                </a:solidFill>
                <a:cs typeface="Calibri" panose="020F0502020204030204" pitchFamily="34" charset="0"/>
              </a:rPr>
              <a:t>Design a Game: Classic Snake</a:t>
            </a:r>
          </a:p>
          <a:p>
            <a:pPr>
              <a:spcAft>
                <a:spcPts val="1200"/>
              </a:spcAft>
            </a:pPr>
            <a:r>
              <a:rPr lang="en-US" dirty="0">
                <a:solidFill>
                  <a:srgbClr val="000000"/>
                </a:solidFill>
                <a:cs typeface="Calibri" panose="020F0502020204030204" pitchFamily="34" charset="0"/>
              </a:rPr>
              <a:t>Vibe Coding: Live Demo!</a:t>
            </a:r>
          </a:p>
          <a:p>
            <a:pPr>
              <a:spcAft>
                <a:spcPts val="1200"/>
              </a:spcAft>
            </a:pPr>
            <a:endParaRPr lang="en-US" dirty="0">
              <a:solidFill>
                <a:srgbClr val="000000"/>
              </a:solidFill>
              <a:cs typeface="Calibri" panose="020F0502020204030204" pitchFamily="34" charset="0"/>
            </a:endParaRPr>
          </a:p>
          <a:p>
            <a:pPr>
              <a:spcAft>
                <a:spcPts val="1200"/>
              </a:spcAft>
            </a:pPr>
            <a:endParaRPr lang="en-US" dirty="0">
              <a:solidFill>
                <a:srgbClr val="000000"/>
              </a:solidFill>
              <a:cs typeface="Calibri" panose="020F0502020204030204" pitchFamily="34" charset="0"/>
            </a:endParaRPr>
          </a:p>
          <a:p>
            <a:pPr>
              <a:spcAft>
                <a:spcPts val="1200"/>
              </a:spcAft>
            </a:pPr>
            <a:endParaRPr lang="en-US" dirty="0">
              <a:solidFill>
                <a:srgbClr val="000000"/>
              </a:solidFill>
              <a:cs typeface="Calibri" panose="020F0502020204030204" pitchFamily="34" charset="0"/>
            </a:endParaRPr>
          </a:p>
        </p:txBody>
      </p:sp>
      <p:sp>
        <p:nvSpPr>
          <p:cNvPr id="4" name="Slide Number Placeholder 3">
            <a:extLst>
              <a:ext uri="{FF2B5EF4-FFF2-40B4-BE49-F238E27FC236}">
                <a16:creationId xmlns:a16="http://schemas.microsoft.com/office/drawing/2014/main" id="{C6DE9F88-D6E1-42DA-F1DF-1DB1FFC14F18}"/>
              </a:ext>
            </a:extLst>
          </p:cNvPr>
          <p:cNvSpPr>
            <a:spLocks noGrp="1"/>
          </p:cNvSpPr>
          <p:nvPr>
            <p:ph type="sldNum" sz="quarter" idx="4"/>
          </p:nvPr>
        </p:nvSpPr>
        <p:spPr/>
        <p:txBody>
          <a:bodyPr/>
          <a:lstStyle/>
          <a:p>
            <a:pPr>
              <a:defRPr/>
            </a:pPr>
            <a:fld id="{C3099B72-DEA2-4ACC-9A6B-2F17D54AC7BB}" type="slidenum">
              <a:rPr lang="en-US" altLang="en-US" smtClean="0"/>
              <a:pPr>
                <a:defRPr/>
              </a:pPr>
              <a:t>2</a:t>
            </a:fld>
            <a:endParaRPr lang="en-US" altLang="en-US" dirty="0"/>
          </a:p>
        </p:txBody>
      </p:sp>
      <p:sp>
        <p:nvSpPr>
          <p:cNvPr id="5" name="TextBox 4">
            <a:extLst>
              <a:ext uri="{FF2B5EF4-FFF2-40B4-BE49-F238E27FC236}">
                <a16:creationId xmlns:a16="http://schemas.microsoft.com/office/drawing/2014/main" id="{817FAE0C-80B6-0CFF-41A5-04E6E82718BD}"/>
              </a:ext>
            </a:extLst>
          </p:cNvPr>
          <p:cNvSpPr txBox="1"/>
          <p:nvPr/>
        </p:nvSpPr>
        <p:spPr>
          <a:xfrm>
            <a:off x="3886200" y="5486400"/>
            <a:ext cx="5105400" cy="646331"/>
          </a:xfrm>
          <a:prstGeom prst="rect">
            <a:avLst/>
          </a:prstGeom>
          <a:noFill/>
        </p:spPr>
        <p:txBody>
          <a:bodyPr wrap="square">
            <a:spAutoFit/>
          </a:bodyPr>
          <a:lstStyle/>
          <a:p>
            <a:r>
              <a:rPr lang="en-US" b="1" dirty="0">
                <a:latin typeface="Consolas" panose="020B0609020204030204" pitchFamily="49" charset="0"/>
              </a:rPr>
              <a:t>Workshop GitHub Repository:</a:t>
            </a:r>
          </a:p>
          <a:p>
            <a:r>
              <a:rPr lang="en-US" b="1" dirty="0">
                <a:latin typeface="Consolas" panose="020B0609020204030204" pitchFamily="49" charset="0"/>
                <a:hlinkClick r:id="rId3"/>
              </a:rPr>
              <a:t>https://github.com/tisage/game-llm/</a:t>
            </a:r>
            <a:endParaRPr lang="en-US" b="1" dirty="0">
              <a:latin typeface="Consolas" panose="020B0609020204030204" pitchFamily="49" charset="0"/>
            </a:endParaRPr>
          </a:p>
        </p:txBody>
      </p:sp>
    </p:spTree>
    <p:extLst>
      <p:ext uri="{BB962C8B-B14F-4D97-AF65-F5344CB8AC3E}">
        <p14:creationId xmlns:p14="http://schemas.microsoft.com/office/powerpoint/2010/main" val="3367361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4B880-ED18-A01C-EB14-C655BE178DB7}"/>
              </a:ext>
            </a:extLst>
          </p:cNvPr>
          <p:cNvSpPr>
            <a:spLocks noGrp="1"/>
          </p:cNvSpPr>
          <p:nvPr>
            <p:ph type="title"/>
          </p:nvPr>
        </p:nvSpPr>
        <p:spPr/>
        <p:txBody>
          <a:bodyPr/>
          <a:lstStyle/>
          <a:p>
            <a:r>
              <a:rPr lang="en-US" dirty="0"/>
              <a:t>What is "Vibe Coding"</a:t>
            </a:r>
          </a:p>
        </p:txBody>
      </p:sp>
      <p:sp>
        <p:nvSpPr>
          <p:cNvPr id="4" name="Slide Number Placeholder 3">
            <a:extLst>
              <a:ext uri="{FF2B5EF4-FFF2-40B4-BE49-F238E27FC236}">
                <a16:creationId xmlns:a16="http://schemas.microsoft.com/office/drawing/2014/main" id="{01CB3931-103A-E857-A5C0-EECB5A486738}"/>
              </a:ext>
            </a:extLst>
          </p:cNvPr>
          <p:cNvSpPr>
            <a:spLocks noGrp="1"/>
          </p:cNvSpPr>
          <p:nvPr>
            <p:ph type="sldNum" sz="quarter" idx="4"/>
          </p:nvPr>
        </p:nvSpPr>
        <p:spPr/>
        <p:txBody>
          <a:bodyPr/>
          <a:lstStyle/>
          <a:p>
            <a:pPr>
              <a:defRPr/>
            </a:pPr>
            <a:fld id="{C3099B72-DEA2-4ACC-9A6B-2F17D54AC7BB}" type="slidenum">
              <a:rPr lang="en-US" altLang="en-US" smtClean="0"/>
              <a:pPr>
                <a:defRPr/>
              </a:pPr>
              <a:t>3</a:t>
            </a:fld>
            <a:endParaRPr lang="en-US" altLang="en-US" dirty="0"/>
          </a:p>
        </p:txBody>
      </p:sp>
      <p:sp>
        <p:nvSpPr>
          <p:cNvPr id="7" name="Content Placeholder 6">
            <a:extLst>
              <a:ext uri="{FF2B5EF4-FFF2-40B4-BE49-F238E27FC236}">
                <a16:creationId xmlns:a16="http://schemas.microsoft.com/office/drawing/2014/main" id="{50228C51-81EB-7348-01C6-13AFCA8733BB}"/>
              </a:ext>
            </a:extLst>
          </p:cNvPr>
          <p:cNvSpPr>
            <a:spLocks noGrp="1"/>
          </p:cNvSpPr>
          <p:nvPr>
            <p:ph idx="1"/>
          </p:nvPr>
        </p:nvSpPr>
        <p:spPr>
          <a:xfrm>
            <a:off x="0" y="1143004"/>
            <a:ext cx="6858000" cy="4525963"/>
          </a:xfrm>
        </p:spPr>
        <p:txBody>
          <a:bodyPr/>
          <a:lstStyle/>
          <a:p>
            <a:r>
              <a:rPr lang="en-US" b="1" dirty="0"/>
              <a:t>Vibe Coding</a:t>
            </a:r>
            <a:r>
              <a:rPr lang="en-US" dirty="0"/>
              <a:t>: an AI-assisted software development practice where developers describe desired functionality in natural language, and an AI generates, refines, and debugs the code based on those prompts</a:t>
            </a:r>
          </a:p>
        </p:txBody>
      </p:sp>
      <p:pic>
        <p:nvPicPr>
          <p:cNvPr id="8" name="Content Placeholder 5">
            <a:extLst>
              <a:ext uri="{FF2B5EF4-FFF2-40B4-BE49-F238E27FC236}">
                <a16:creationId xmlns:a16="http://schemas.microsoft.com/office/drawing/2014/main" id="{CBD04A0A-1066-6EA9-782E-5DA914DC519C}"/>
              </a:ext>
            </a:extLst>
          </p:cNvPr>
          <p:cNvPicPr>
            <a:picLocks noChangeAspect="1"/>
          </p:cNvPicPr>
          <p:nvPr/>
        </p:nvPicPr>
        <p:blipFill>
          <a:blip r:embed="rId3"/>
          <a:stretch>
            <a:fillRect/>
          </a:stretch>
        </p:blipFill>
        <p:spPr bwMode="auto">
          <a:xfrm>
            <a:off x="6553200" y="1027712"/>
            <a:ext cx="2267833" cy="5306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8127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A92E4-E5F8-FFCB-370B-F3249AAD0B90}"/>
              </a:ext>
            </a:extLst>
          </p:cNvPr>
          <p:cNvSpPr>
            <a:spLocks noGrp="1"/>
          </p:cNvSpPr>
          <p:nvPr>
            <p:ph type="title"/>
          </p:nvPr>
        </p:nvSpPr>
        <p:spPr/>
        <p:txBody>
          <a:bodyPr/>
          <a:lstStyle/>
          <a:p>
            <a:r>
              <a:rPr lang="en-US" dirty="0"/>
              <a:t>The Art of the Prompt</a:t>
            </a:r>
          </a:p>
        </p:txBody>
      </p:sp>
      <p:sp>
        <p:nvSpPr>
          <p:cNvPr id="3" name="Content Placeholder 2">
            <a:extLst>
              <a:ext uri="{FF2B5EF4-FFF2-40B4-BE49-F238E27FC236}">
                <a16:creationId xmlns:a16="http://schemas.microsoft.com/office/drawing/2014/main" id="{D95710BD-CB5C-0F4C-D2C2-116922287E4E}"/>
              </a:ext>
            </a:extLst>
          </p:cNvPr>
          <p:cNvSpPr>
            <a:spLocks noGrp="1"/>
          </p:cNvSpPr>
          <p:nvPr>
            <p:ph idx="1"/>
          </p:nvPr>
        </p:nvSpPr>
        <p:spPr/>
        <p:txBody>
          <a:bodyPr/>
          <a:lstStyle/>
          <a:p>
            <a:pPr marL="91440" indent="0">
              <a:buNone/>
            </a:pPr>
            <a:r>
              <a:rPr lang="en-US" b="1" dirty="0"/>
              <a:t>Prompt</a:t>
            </a:r>
            <a:r>
              <a:rPr lang="en-US" dirty="0"/>
              <a:t>: A prompt is a user's input, such as a question, instruction, or command, given to an AI model to guide it in generating a specific response</a:t>
            </a:r>
          </a:p>
          <a:p>
            <a:endParaRPr lang="en-US" dirty="0"/>
          </a:p>
          <a:p>
            <a:pPr marL="91440" indent="0">
              <a:buNone/>
            </a:pPr>
            <a:r>
              <a:rPr lang="en-US" dirty="0"/>
              <a:t>Good prompts are:</a:t>
            </a:r>
          </a:p>
          <a:p>
            <a:r>
              <a:rPr lang="en-US" dirty="0"/>
              <a:t>Clear</a:t>
            </a:r>
          </a:p>
          <a:p>
            <a:r>
              <a:rPr lang="en-US" dirty="0"/>
              <a:t>Specific</a:t>
            </a:r>
          </a:p>
          <a:p>
            <a:r>
              <a:rPr lang="en-US" dirty="0"/>
              <a:t>Structured</a:t>
            </a:r>
          </a:p>
          <a:p>
            <a:endParaRPr lang="en-US" dirty="0"/>
          </a:p>
        </p:txBody>
      </p:sp>
      <p:sp>
        <p:nvSpPr>
          <p:cNvPr id="4" name="Slide Number Placeholder 3">
            <a:extLst>
              <a:ext uri="{FF2B5EF4-FFF2-40B4-BE49-F238E27FC236}">
                <a16:creationId xmlns:a16="http://schemas.microsoft.com/office/drawing/2014/main" id="{6FF041F3-6108-0697-0435-AAD49AC3774A}"/>
              </a:ext>
            </a:extLst>
          </p:cNvPr>
          <p:cNvSpPr>
            <a:spLocks noGrp="1"/>
          </p:cNvSpPr>
          <p:nvPr>
            <p:ph type="sldNum" sz="quarter" idx="4"/>
          </p:nvPr>
        </p:nvSpPr>
        <p:spPr/>
        <p:txBody>
          <a:bodyPr/>
          <a:lstStyle/>
          <a:p>
            <a:pPr>
              <a:defRPr/>
            </a:pPr>
            <a:fld id="{C3099B72-DEA2-4ACC-9A6B-2F17D54AC7BB}" type="slidenum">
              <a:rPr lang="en-US" altLang="en-US" smtClean="0"/>
              <a:pPr>
                <a:defRPr/>
              </a:pPr>
              <a:t>4</a:t>
            </a:fld>
            <a:endParaRPr lang="en-US" altLang="en-US" dirty="0"/>
          </a:p>
        </p:txBody>
      </p:sp>
      <p:grpSp>
        <p:nvGrpSpPr>
          <p:cNvPr id="20" name="Group 19">
            <a:extLst>
              <a:ext uri="{FF2B5EF4-FFF2-40B4-BE49-F238E27FC236}">
                <a16:creationId xmlns:a16="http://schemas.microsoft.com/office/drawing/2014/main" id="{AC8A61B5-8324-3A4D-BD8A-DAEEEB801BC0}"/>
              </a:ext>
            </a:extLst>
          </p:cNvPr>
          <p:cNvGrpSpPr/>
          <p:nvPr/>
        </p:nvGrpSpPr>
        <p:grpSpPr>
          <a:xfrm>
            <a:off x="3810000" y="2362200"/>
            <a:ext cx="5229133" cy="3692718"/>
            <a:chOff x="3810000" y="2336841"/>
            <a:chExt cx="5229133" cy="3692718"/>
          </a:xfrm>
        </p:grpSpPr>
        <p:grpSp>
          <p:nvGrpSpPr>
            <p:cNvPr id="17" name="Group 16">
              <a:extLst>
                <a:ext uri="{FF2B5EF4-FFF2-40B4-BE49-F238E27FC236}">
                  <a16:creationId xmlns:a16="http://schemas.microsoft.com/office/drawing/2014/main" id="{923AC399-286A-60D3-0FF8-9686AE31DD4E}"/>
                </a:ext>
              </a:extLst>
            </p:cNvPr>
            <p:cNvGrpSpPr/>
            <p:nvPr/>
          </p:nvGrpSpPr>
          <p:grpSpPr>
            <a:xfrm>
              <a:off x="3810000" y="2336841"/>
              <a:ext cx="5229133" cy="3692718"/>
              <a:chOff x="3810000" y="2336841"/>
              <a:chExt cx="5229133" cy="3692718"/>
            </a:xfrm>
          </p:grpSpPr>
          <p:grpSp>
            <p:nvGrpSpPr>
              <p:cNvPr id="16" name="Group 15">
                <a:extLst>
                  <a:ext uri="{FF2B5EF4-FFF2-40B4-BE49-F238E27FC236}">
                    <a16:creationId xmlns:a16="http://schemas.microsoft.com/office/drawing/2014/main" id="{636B1112-6DEC-16A3-897B-5F49905C52C4}"/>
                  </a:ext>
                </a:extLst>
              </p:cNvPr>
              <p:cNvGrpSpPr/>
              <p:nvPr/>
            </p:nvGrpSpPr>
            <p:grpSpPr>
              <a:xfrm>
                <a:off x="3810000" y="2336841"/>
                <a:ext cx="5229133" cy="3692718"/>
                <a:chOff x="3810000" y="2336841"/>
                <a:chExt cx="5229133" cy="3692718"/>
              </a:xfrm>
            </p:grpSpPr>
            <p:pic>
              <p:nvPicPr>
                <p:cNvPr id="9" name="Picture 8">
                  <a:extLst>
                    <a:ext uri="{FF2B5EF4-FFF2-40B4-BE49-F238E27FC236}">
                      <a16:creationId xmlns:a16="http://schemas.microsoft.com/office/drawing/2014/main" id="{D12876DF-3120-2C25-F348-7458B4386DDF}"/>
                    </a:ext>
                  </a:extLst>
                </p:cNvPr>
                <p:cNvPicPr>
                  <a:picLocks noChangeAspect="1"/>
                </p:cNvPicPr>
                <p:nvPr/>
              </p:nvPicPr>
              <p:blipFill>
                <a:blip r:embed="rId3"/>
                <a:stretch>
                  <a:fillRect/>
                </a:stretch>
              </p:blipFill>
              <p:spPr>
                <a:xfrm>
                  <a:off x="4673930" y="5029200"/>
                  <a:ext cx="4365203" cy="1000359"/>
                </a:xfrm>
                <a:prstGeom prst="rect">
                  <a:avLst/>
                </a:prstGeom>
              </p:spPr>
            </p:pic>
            <p:pic>
              <p:nvPicPr>
                <p:cNvPr id="7" name="Picture 6">
                  <a:extLst>
                    <a:ext uri="{FF2B5EF4-FFF2-40B4-BE49-F238E27FC236}">
                      <a16:creationId xmlns:a16="http://schemas.microsoft.com/office/drawing/2014/main" id="{EBBAC894-5945-500E-54A4-944744A071B4}"/>
                    </a:ext>
                  </a:extLst>
                </p:cNvPr>
                <p:cNvPicPr>
                  <a:picLocks noChangeAspect="1"/>
                </p:cNvPicPr>
                <p:nvPr/>
              </p:nvPicPr>
              <p:blipFill>
                <a:blip r:embed="rId4"/>
                <a:stretch>
                  <a:fillRect/>
                </a:stretch>
              </p:blipFill>
              <p:spPr>
                <a:xfrm>
                  <a:off x="4467133" y="3534014"/>
                  <a:ext cx="4572000" cy="1380884"/>
                </a:xfrm>
                <a:prstGeom prst="rect">
                  <a:avLst/>
                </a:prstGeom>
              </p:spPr>
            </p:pic>
            <p:pic>
              <p:nvPicPr>
                <p:cNvPr id="13" name="Picture 12">
                  <a:extLst>
                    <a:ext uri="{FF2B5EF4-FFF2-40B4-BE49-F238E27FC236}">
                      <a16:creationId xmlns:a16="http://schemas.microsoft.com/office/drawing/2014/main" id="{62E4B630-2AF9-AAD6-FCFB-B567F293ABFE}"/>
                    </a:ext>
                  </a:extLst>
                </p:cNvPr>
                <p:cNvPicPr>
                  <a:picLocks noChangeAspect="1"/>
                </p:cNvPicPr>
                <p:nvPr/>
              </p:nvPicPr>
              <p:blipFill>
                <a:blip r:embed="rId5"/>
                <a:stretch>
                  <a:fillRect/>
                </a:stretch>
              </p:blipFill>
              <p:spPr>
                <a:xfrm>
                  <a:off x="3810000" y="2336841"/>
                  <a:ext cx="5229133" cy="1140022"/>
                </a:xfrm>
                <a:prstGeom prst="rect">
                  <a:avLst/>
                </a:prstGeom>
              </p:spPr>
            </p:pic>
          </p:grpSp>
          <p:sp>
            <p:nvSpPr>
              <p:cNvPr id="14" name="Rectangle: Rounded Corners 13">
                <a:extLst>
                  <a:ext uri="{FF2B5EF4-FFF2-40B4-BE49-F238E27FC236}">
                    <a16:creationId xmlns:a16="http://schemas.microsoft.com/office/drawing/2014/main" id="{B6C2ACCA-3F0B-1E88-DAC8-7B1CE338829B}"/>
                  </a:ext>
                </a:extLst>
              </p:cNvPr>
              <p:cNvSpPr/>
              <p:nvPr/>
            </p:nvSpPr>
            <p:spPr bwMode="auto">
              <a:xfrm>
                <a:off x="4191000" y="2971800"/>
                <a:ext cx="4191000" cy="228600"/>
              </a:xfrm>
              <a:prstGeom prst="roundRect">
                <a:avLst/>
              </a:prstGeom>
              <a:noFill/>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grpSp>
        <p:sp>
          <p:nvSpPr>
            <p:cNvPr id="18" name="Rectangle: Rounded Corners 17">
              <a:extLst>
                <a:ext uri="{FF2B5EF4-FFF2-40B4-BE49-F238E27FC236}">
                  <a16:creationId xmlns:a16="http://schemas.microsoft.com/office/drawing/2014/main" id="{0A6E6422-BC30-14ED-D3AB-0A7B6C5E2857}"/>
                </a:ext>
              </a:extLst>
            </p:cNvPr>
            <p:cNvSpPr/>
            <p:nvPr/>
          </p:nvSpPr>
          <p:spPr bwMode="auto">
            <a:xfrm>
              <a:off x="4650195" y="3775242"/>
              <a:ext cx="4038600" cy="304800"/>
            </a:xfrm>
            <a:prstGeom prst="roundRect">
              <a:avLst/>
            </a:prstGeom>
            <a:noFill/>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9" name="Rectangle: Rounded Corners 18">
              <a:extLst>
                <a:ext uri="{FF2B5EF4-FFF2-40B4-BE49-F238E27FC236}">
                  <a16:creationId xmlns:a16="http://schemas.microsoft.com/office/drawing/2014/main" id="{47872CA3-30F2-BD46-65A4-05D0268E5717}"/>
                </a:ext>
              </a:extLst>
            </p:cNvPr>
            <p:cNvSpPr/>
            <p:nvPr/>
          </p:nvSpPr>
          <p:spPr bwMode="auto">
            <a:xfrm>
              <a:off x="4876800" y="5424096"/>
              <a:ext cx="3962400" cy="290900"/>
            </a:xfrm>
            <a:prstGeom prst="roundRect">
              <a:avLst/>
            </a:prstGeom>
            <a:noFill/>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grpSp>
    </p:spTree>
    <p:extLst>
      <p:ext uri="{BB962C8B-B14F-4D97-AF65-F5344CB8AC3E}">
        <p14:creationId xmlns:p14="http://schemas.microsoft.com/office/powerpoint/2010/main" val="881416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Snake Game for Golden Age – Get this Extension for 🦊 Firefox (en-CA)">
            <a:extLst>
              <a:ext uri="{FF2B5EF4-FFF2-40B4-BE49-F238E27FC236}">
                <a16:creationId xmlns:a16="http://schemas.microsoft.com/office/drawing/2014/main" id="{155B5192-43E2-BEF0-EAC2-3957E80B00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306540"/>
            <a:ext cx="5076825" cy="37528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8D1D4A3-26E1-03B6-B995-C67A052CBA8A}"/>
              </a:ext>
            </a:extLst>
          </p:cNvPr>
          <p:cNvSpPr>
            <a:spLocks noGrp="1"/>
          </p:cNvSpPr>
          <p:nvPr>
            <p:ph type="title"/>
          </p:nvPr>
        </p:nvSpPr>
        <p:spPr/>
        <p:txBody>
          <a:bodyPr/>
          <a:lstStyle/>
          <a:p>
            <a:r>
              <a:rPr lang="en-US" dirty="0"/>
              <a:t>Design a Game: Classic Snake</a:t>
            </a:r>
          </a:p>
        </p:txBody>
      </p:sp>
      <p:sp>
        <p:nvSpPr>
          <p:cNvPr id="3" name="Content Placeholder 2">
            <a:extLst>
              <a:ext uri="{FF2B5EF4-FFF2-40B4-BE49-F238E27FC236}">
                <a16:creationId xmlns:a16="http://schemas.microsoft.com/office/drawing/2014/main" id="{FC36694A-6DCF-C9CD-49D9-AA5538091298}"/>
              </a:ext>
            </a:extLst>
          </p:cNvPr>
          <p:cNvSpPr>
            <a:spLocks noGrp="1"/>
          </p:cNvSpPr>
          <p:nvPr>
            <p:ph idx="1"/>
          </p:nvPr>
        </p:nvSpPr>
        <p:spPr/>
        <p:txBody>
          <a:bodyPr/>
          <a:lstStyle/>
          <a:p>
            <a:r>
              <a:rPr lang="en-US" dirty="0"/>
              <a:t>Snake Game: Snake is a genre of action video games where the player maneuvers the end of a growing line, often themed as a snake. The player must keep the snake from colliding with both other obstacles and itself, which gets harder as the snake lengthens.</a:t>
            </a:r>
          </a:p>
        </p:txBody>
      </p:sp>
      <p:sp>
        <p:nvSpPr>
          <p:cNvPr id="4" name="Slide Number Placeholder 3">
            <a:extLst>
              <a:ext uri="{FF2B5EF4-FFF2-40B4-BE49-F238E27FC236}">
                <a16:creationId xmlns:a16="http://schemas.microsoft.com/office/drawing/2014/main" id="{8D3ED1EB-B433-499D-4A02-8E541067FB19}"/>
              </a:ext>
            </a:extLst>
          </p:cNvPr>
          <p:cNvSpPr>
            <a:spLocks noGrp="1"/>
          </p:cNvSpPr>
          <p:nvPr>
            <p:ph type="sldNum" sz="quarter" idx="4"/>
          </p:nvPr>
        </p:nvSpPr>
        <p:spPr/>
        <p:txBody>
          <a:bodyPr/>
          <a:lstStyle/>
          <a:p>
            <a:pPr>
              <a:defRPr/>
            </a:pPr>
            <a:fld id="{C3099B72-DEA2-4ACC-9A6B-2F17D54AC7BB}" type="slidenum">
              <a:rPr lang="en-US" altLang="en-US" smtClean="0"/>
              <a:pPr>
                <a:defRPr/>
              </a:pPr>
              <a:t>5</a:t>
            </a:fld>
            <a:endParaRPr lang="en-US" altLang="en-US" dirty="0"/>
          </a:p>
        </p:txBody>
      </p:sp>
      <p:pic>
        <p:nvPicPr>
          <p:cNvPr id="7" name="Picture 6">
            <a:extLst>
              <a:ext uri="{FF2B5EF4-FFF2-40B4-BE49-F238E27FC236}">
                <a16:creationId xmlns:a16="http://schemas.microsoft.com/office/drawing/2014/main" id="{ED33327F-9369-7EC7-37B1-BAF0A0BB67B5}"/>
              </a:ext>
            </a:extLst>
          </p:cNvPr>
          <p:cNvPicPr>
            <a:picLocks noChangeAspect="1"/>
          </p:cNvPicPr>
          <p:nvPr/>
        </p:nvPicPr>
        <p:blipFill>
          <a:blip r:embed="rId4"/>
          <a:stretch>
            <a:fillRect/>
          </a:stretch>
        </p:blipFill>
        <p:spPr>
          <a:xfrm>
            <a:off x="5774447" y="4800600"/>
            <a:ext cx="2900530" cy="1409819"/>
          </a:xfrm>
          <a:prstGeom prst="rect">
            <a:avLst/>
          </a:prstGeom>
        </p:spPr>
      </p:pic>
    </p:spTree>
    <p:extLst>
      <p:ext uri="{BB962C8B-B14F-4D97-AF65-F5344CB8AC3E}">
        <p14:creationId xmlns:p14="http://schemas.microsoft.com/office/powerpoint/2010/main" val="705868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CECC9-9406-1D59-16A8-55298F8A03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55B7DC-2DA8-8F0C-372C-D078B1C76526}"/>
              </a:ext>
            </a:extLst>
          </p:cNvPr>
          <p:cNvSpPr>
            <a:spLocks noGrp="1"/>
          </p:cNvSpPr>
          <p:nvPr>
            <p:ph type="title"/>
          </p:nvPr>
        </p:nvSpPr>
        <p:spPr/>
        <p:txBody>
          <a:bodyPr/>
          <a:lstStyle/>
          <a:p>
            <a:r>
              <a:rPr lang="en-US" dirty="0"/>
              <a:t>Design a Game: Classic Snake</a:t>
            </a:r>
          </a:p>
        </p:txBody>
      </p:sp>
      <p:sp>
        <p:nvSpPr>
          <p:cNvPr id="4" name="Slide Number Placeholder 3">
            <a:extLst>
              <a:ext uri="{FF2B5EF4-FFF2-40B4-BE49-F238E27FC236}">
                <a16:creationId xmlns:a16="http://schemas.microsoft.com/office/drawing/2014/main" id="{9B7DF1B3-42D2-5E01-DA94-95BC2DB8527C}"/>
              </a:ext>
            </a:extLst>
          </p:cNvPr>
          <p:cNvSpPr>
            <a:spLocks noGrp="1"/>
          </p:cNvSpPr>
          <p:nvPr>
            <p:ph type="sldNum" sz="quarter" idx="4"/>
          </p:nvPr>
        </p:nvSpPr>
        <p:spPr/>
        <p:txBody>
          <a:bodyPr/>
          <a:lstStyle/>
          <a:p>
            <a:pPr>
              <a:defRPr/>
            </a:pPr>
            <a:fld id="{C3099B72-DEA2-4ACC-9A6B-2F17D54AC7BB}" type="slidenum">
              <a:rPr lang="en-US" altLang="en-US" smtClean="0"/>
              <a:pPr>
                <a:defRPr/>
              </a:pPr>
              <a:t>6</a:t>
            </a:fld>
            <a:endParaRPr lang="en-US" altLang="en-US" dirty="0"/>
          </a:p>
        </p:txBody>
      </p:sp>
      <p:graphicFrame>
        <p:nvGraphicFramePr>
          <p:cNvPr id="8" name="Content Placeholder 7">
            <a:extLst>
              <a:ext uri="{FF2B5EF4-FFF2-40B4-BE49-F238E27FC236}">
                <a16:creationId xmlns:a16="http://schemas.microsoft.com/office/drawing/2014/main" id="{152E11D0-CD5D-87A3-A80D-12EDD0C5AD86}"/>
              </a:ext>
            </a:extLst>
          </p:cNvPr>
          <p:cNvGraphicFramePr>
            <a:graphicFrameLocks noGrp="1"/>
          </p:cNvGraphicFramePr>
          <p:nvPr>
            <p:ph idx="1"/>
            <p:extLst>
              <p:ext uri="{D42A27DB-BD31-4B8C-83A1-F6EECF244321}">
                <p14:modId xmlns:p14="http://schemas.microsoft.com/office/powerpoint/2010/main" val="1803018804"/>
              </p:ext>
            </p:extLst>
          </p:nvPr>
        </p:nvGraphicFramePr>
        <p:xfrm>
          <a:off x="-381000" y="1442852"/>
          <a:ext cx="33528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Table 9">
            <a:extLst>
              <a:ext uri="{FF2B5EF4-FFF2-40B4-BE49-F238E27FC236}">
                <a16:creationId xmlns:a16="http://schemas.microsoft.com/office/drawing/2014/main" id="{065981CE-28BC-A5B6-183C-6841CA070F12}"/>
              </a:ext>
            </a:extLst>
          </p:cNvPr>
          <p:cNvGraphicFramePr>
            <a:graphicFrameLocks noGrp="1"/>
          </p:cNvGraphicFramePr>
          <p:nvPr>
            <p:extLst>
              <p:ext uri="{D42A27DB-BD31-4B8C-83A1-F6EECF244321}">
                <p14:modId xmlns:p14="http://schemas.microsoft.com/office/powerpoint/2010/main" val="928776496"/>
              </p:ext>
            </p:extLst>
          </p:nvPr>
        </p:nvGraphicFramePr>
        <p:xfrm>
          <a:off x="2819400" y="1072245"/>
          <a:ext cx="3200400" cy="4795155"/>
        </p:xfrm>
        <a:graphic>
          <a:graphicData uri="http://schemas.openxmlformats.org/drawingml/2006/table">
            <a:tbl>
              <a:tblPr firstRow="1">
                <a:tableStyleId>{616DA210-FB5B-4158-B5E0-FEB733F419BA}</a:tableStyleId>
              </a:tblPr>
              <a:tblGrid>
                <a:gridCol w="3200400">
                  <a:extLst>
                    <a:ext uri="{9D8B030D-6E8A-4147-A177-3AD203B41FA5}">
                      <a16:colId xmlns:a16="http://schemas.microsoft.com/office/drawing/2014/main" val="963530139"/>
                    </a:ext>
                  </a:extLst>
                </a:gridCol>
              </a:tblGrid>
              <a:tr h="497680">
                <a:tc>
                  <a:txBody>
                    <a:bodyPr/>
                    <a:lstStyle/>
                    <a:p>
                      <a:pPr algn="ctr"/>
                      <a:r>
                        <a:rPr lang="en-US" sz="2000" dirty="0"/>
                        <a:t>Prompt File Content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06816965"/>
                  </a:ext>
                </a:extLst>
              </a:tr>
              <a:tr h="859495">
                <a:tc>
                  <a:txBody>
                    <a:bodyPr/>
                    <a:lstStyle/>
                    <a:p>
                      <a:pPr algn="l"/>
                      <a:r>
                        <a:rPr lang="en-US" sz="2000" b="0" dirty="0">
                          <a:latin typeface="Calibri" panose="020F0502020204030204" pitchFamily="34" charset="0"/>
                          <a:cs typeface="Calibri" panose="020F0502020204030204" pitchFamily="34" charset="0"/>
                        </a:rPr>
                        <a:t>Purpose</a:t>
                      </a:r>
                      <a:endParaRPr lang="en-US" sz="2000" b="0" dirty="0"/>
                    </a:p>
                  </a:txBody>
                  <a:tcPr>
                    <a:lnL w="28575" cap="flat" cmpd="sng" algn="ctr">
                      <a:solidFill>
                        <a:schemeClr val="accent6"/>
                      </a:solidFill>
                      <a:prstDash val="solid"/>
                      <a:round/>
                      <a:headEnd type="none" w="med" len="med"/>
                      <a:tailEnd type="none" w="med" len="med"/>
                    </a:lnL>
                    <a:lnR w="28575" cap="flat" cmpd="sng" algn="ctr">
                      <a:solidFill>
                        <a:schemeClr val="accent6"/>
                      </a:solidFill>
                      <a:prstDash val="solid"/>
                      <a:round/>
                      <a:headEnd type="none" w="med" len="med"/>
                      <a:tailEnd type="none" w="med" len="med"/>
                    </a:lnR>
                    <a:lnT w="28575" cap="flat" cmpd="sng" algn="ctr">
                      <a:solidFill>
                        <a:schemeClr val="accent6"/>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7276642"/>
                  </a:ext>
                </a:extLst>
              </a:tr>
              <a:tr h="859495">
                <a:tc>
                  <a: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2000" b="0" dirty="0">
                          <a:latin typeface="Calibri" panose="020F0502020204030204" pitchFamily="34" charset="0"/>
                          <a:cs typeface="Calibri" panose="020F0502020204030204" pitchFamily="34" charset="0"/>
                        </a:rPr>
                        <a:t>What/How to Play</a:t>
                      </a:r>
                    </a:p>
                  </a:txBody>
                  <a:tcPr>
                    <a:lnL w="28575" cap="flat" cmpd="sng" algn="ctr">
                      <a:solidFill>
                        <a:schemeClr val="accent6"/>
                      </a:solidFill>
                      <a:prstDash val="solid"/>
                      <a:round/>
                      <a:headEnd type="none" w="med" len="med"/>
                      <a:tailEnd type="none" w="med" len="med"/>
                    </a:lnL>
                    <a:lnR w="28575" cap="flat" cmpd="sng" algn="ctr">
                      <a:solidFill>
                        <a:schemeClr val="accent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43870046"/>
                  </a:ext>
                </a:extLst>
              </a:tr>
              <a:tr h="859495">
                <a:tc>
                  <a: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2000" b="0" dirty="0">
                          <a:latin typeface="Calibri" panose="020F0502020204030204" pitchFamily="34" charset="0"/>
                          <a:cs typeface="Calibri" panose="020F0502020204030204" pitchFamily="34" charset="0"/>
                        </a:rPr>
                        <a:t>User Interface</a:t>
                      </a:r>
                    </a:p>
                  </a:txBody>
                  <a:tcPr>
                    <a:lnL w="28575" cap="flat" cmpd="sng" algn="ctr">
                      <a:solidFill>
                        <a:schemeClr val="accent6"/>
                      </a:solidFill>
                      <a:prstDash val="solid"/>
                      <a:round/>
                      <a:headEnd type="none" w="med" len="med"/>
                      <a:tailEnd type="none" w="med" len="med"/>
                    </a:lnL>
                    <a:lnR w="28575" cap="flat" cmpd="sng" algn="ctr">
                      <a:solidFill>
                        <a:schemeClr val="accent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78886904"/>
                  </a:ext>
                </a:extLst>
              </a:tr>
              <a:tr h="859495">
                <a:tc>
                  <a: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2000" b="0" dirty="0">
                          <a:latin typeface="Calibri" panose="020F0502020204030204" pitchFamily="34" charset="0"/>
                          <a:cs typeface="Calibri" panose="020F0502020204030204" pitchFamily="34" charset="0"/>
                        </a:rPr>
                        <a:t>Technical Implementation</a:t>
                      </a:r>
                    </a:p>
                  </a:txBody>
                  <a:tcPr>
                    <a:lnL w="28575" cap="flat" cmpd="sng" algn="ctr">
                      <a:solidFill>
                        <a:schemeClr val="accent6"/>
                      </a:solidFill>
                      <a:prstDash val="solid"/>
                      <a:round/>
                      <a:headEnd type="none" w="med" len="med"/>
                      <a:tailEnd type="none" w="med" len="med"/>
                    </a:lnL>
                    <a:lnR w="28575" cap="flat" cmpd="sng" algn="ctr">
                      <a:solidFill>
                        <a:schemeClr val="accent6"/>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61234951"/>
                  </a:ext>
                </a:extLst>
              </a:tr>
              <a:tr h="859495">
                <a:tc>
                  <a: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2000" b="0" dirty="0">
                          <a:latin typeface="Calibri" panose="020F0502020204030204" pitchFamily="34" charset="0"/>
                          <a:cs typeface="Calibri" panose="020F0502020204030204" pitchFamily="34" charset="0"/>
                        </a:rPr>
                        <a:t>Expected Delivery</a:t>
                      </a:r>
                    </a:p>
                  </a:txBody>
                  <a:tcPr>
                    <a:lnL w="28575" cap="flat" cmpd="sng" algn="ctr">
                      <a:solidFill>
                        <a:schemeClr val="accent6"/>
                      </a:solidFill>
                      <a:prstDash val="solid"/>
                      <a:round/>
                      <a:headEnd type="none" w="med" len="med"/>
                      <a:tailEnd type="none" w="med" len="med"/>
                    </a:lnL>
                    <a:lnR w="28575" cap="flat" cmpd="sng" algn="ctr">
                      <a:solidFill>
                        <a:schemeClr val="accent6"/>
                      </a:solidFill>
                      <a:prstDash val="solid"/>
                      <a:round/>
                      <a:headEnd type="none" w="med" len="med"/>
                      <a:tailEnd type="none" w="med" len="med"/>
                    </a:lnR>
                    <a:lnT w="12700" cmpd="sng">
                      <a:noFill/>
                    </a:lnT>
                    <a:lnB w="285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4256608"/>
                  </a:ext>
                </a:extLst>
              </a:tr>
            </a:tbl>
          </a:graphicData>
        </a:graphic>
      </p:graphicFrame>
      <p:grpSp>
        <p:nvGrpSpPr>
          <p:cNvPr id="18" name="Group 17">
            <a:extLst>
              <a:ext uri="{FF2B5EF4-FFF2-40B4-BE49-F238E27FC236}">
                <a16:creationId xmlns:a16="http://schemas.microsoft.com/office/drawing/2014/main" id="{DEC3BD51-FDC5-2334-734E-035D6377F155}"/>
              </a:ext>
            </a:extLst>
          </p:cNvPr>
          <p:cNvGrpSpPr/>
          <p:nvPr/>
        </p:nvGrpSpPr>
        <p:grpSpPr>
          <a:xfrm>
            <a:off x="6172200" y="1666504"/>
            <a:ext cx="2623735" cy="4191000"/>
            <a:chOff x="6172200" y="1666504"/>
            <a:chExt cx="2623735" cy="4191000"/>
          </a:xfrm>
        </p:grpSpPr>
        <p:sp>
          <p:nvSpPr>
            <p:cNvPr id="11" name="Right Brace 10">
              <a:extLst>
                <a:ext uri="{FF2B5EF4-FFF2-40B4-BE49-F238E27FC236}">
                  <a16:creationId xmlns:a16="http://schemas.microsoft.com/office/drawing/2014/main" id="{27A2BCDF-6018-3A88-689D-EA8116F844A9}"/>
                </a:ext>
              </a:extLst>
            </p:cNvPr>
            <p:cNvSpPr/>
            <p:nvPr/>
          </p:nvSpPr>
          <p:spPr bwMode="auto">
            <a:xfrm>
              <a:off x="6172200" y="1666504"/>
              <a:ext cx="946946" cy="4191000"/>
            </a:xfrm>
            <a:prstGeom prst="rightBrace">
              <a:avLst/>
            </a:prstGeom>
            <a:ln w="28575">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grpSp>
          <p:nvGrpSpPr>
            <p:cNvPr id="17" name="Group 16">
              <a:extLst>
                <a:ext uri="{FF2B5EF4-FFF2-40B4-BE49-F238E27FC236}">
                  <a16:creationId xmlns:a16="http://schemas.microsoft.com/office/drawing/2014/main" id="{316787E0-9C86-D0B4-C3D6-6B6FB5BF2BAD}"/>
                </a:ext>
              </a:extLst>
            </p:cNvPr>
            <p:cNvGrpSpPr/>
            <p:nvPr/>
          </p:nvGrpSpPr>
          <p:grpSpPr>
            <a:xfrm>
              <a:off x="6669481" y="3276600"/>
              <a:ext cx="2126454" cy="1171869"/>
              <a:chOff x="6554190" y="3288531"/>
              <a:chExt cx="2590800" cy="1427766"/>
            </a:xfrm>
          </p:grpSpPr>
          <p:pic>
            <p:nvPicPr>
              <p:cNvPr id="15" name="Picture 14">
                <a:extLst>
                  <a:ext uri="{FF2B5EF4-FFF2-40B4-BE49-F238E27FC236}">
                    <a16:creationId xmlns:a16="http://schemas.microsoft.com/office/drawing/2014/main" id="{8222E10E-9410-F561-16E2-7D559520577F}"/>
                  </a:ext>
                </a:extLst>
              </p:cNvPr>
              <p:cNvPicPr>
                <a:picLocks noChangeAspect="1"/>
              </p:cNvPicPr>
              <p:nvPr/>
            </p:nvPicPr>
            <p:blipFill>
              <a:blip r:embed="rId8"/>
              <a:stretch>
                <a:fillRect/>
              </a:stretch>
            </p:blipFill>
            <p:spPr>
              <a:xfrm>
                <a:off x="7376117" y="3288531"/>
                <a:ext cx="946946" cy="946946"/>
              </a:xfrm>
              <a:prstGeom prst="rect">
                <a:avLst/>
              </a:prstGeom>
            </p:spPr>
          </p:pic>
          <p:sp>
            <p:nvSpPr>
              <p:cNvPr id="16" name="TextBox 15">
                <a:extLst>
                  <a:ext uri="{FF2B5EF4-FFF2-40B4-BE49-F238E27FC236}">
                    <a16:creationId xmlns:a16="http://schemas.microsoft.com/office/drawing/2014/main" id="{A622C9E3-C40F-E8A3-5BEC-20BB0AB63A58}"/>
                  </a:ext>
                </a:extLst>
              </p:cNvPr>
              <p:cNvSpPr txBox="1"/>
              <p:nvPr/>
            </p:nvSpPr>
            <p:spPr>
              <a:xfrm>
                <a:off x="6554190" y="4346965"/>
                <a:ext cx="2590800" cy="369332"/>
              </a:xfrm>
              <a:prstGeom prst="rect">
                <a:avLst/>
              </a:prstGeom>
              <a:noFill/>
            </p:spPr>
            <p:txBody>
              <a:bodyPr wrap="square" rtlCol="0">
                <a:spAutoFit/>
              </a:bodyPr>
              <a:lstStyle/>
              <a:p>
                <a:pPr algn="ctr"/>
                <a:r>
                  <a:rPr lang="en-US" dirty="0">
                    <a:latin typeface="Consolas" panose="020B0609020204030204" pitchFamily="49" charset="0"/>
                  </a:rPr>
                  <a:t>game_prompt.md</a:t>
                </a:r>
              </a:p>
            </p:txBody>
          </p:sp>
        </p:grpSp>
      </p:grpSp>
    </p:spTree>
    <p:extLst>
      <p:ext uri="{BB962C8B-B14F-4D97-AF65-F5344CB8AC3E}">
        <p14:creationId xmlns:p14="http://schemas.microsoft.com/office/powerpoint/2010/main" val="2272929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46E89-992E-5C4A-5B57-6F72FC0AB262}"/>
              </a:ext>
            </a:extLst>
          </p:cNvPr>
          <p:cNvSpPr>
            <a:spLocks noGrp="1"/>
          </p:cNvSpPr>
          <p:nvPr>
            <p:ph type="title"/>
          </p:nvPr>
        </p:nvSpPr>
        <p:spPr/>
        <p:txBody>
          <a:bodyPr/>
          <a:lstStyle/>
          <a:p>
            <a:r>
              <a:rPr lang="en-US" dirty="0"/>
              <a:t>Step 1: The Objective</a:t>
            </a:r>
          </a:p>
        </p:txBody>
      </p:sp>
      <p:sp>
        <p:nvSpPr>
          <p:cNvPr id="3" name="Content Placeholder 2">
            <a:extLst>
              <a:ext uri="{FF2B5EF4-FFF2-40B4-BE49-F238E27FC236}">
                <a16:creationId xmlns:a16="http://schemas.microsoft.com/office/drawing/2014/main" id="{F3270004-FD70-7434-238E-588284805EEF}"/>
              </a:ext>
            </a:extLst>
          </p:cNvPr>
          <p:cNvSpPr>
            <a:spLocks noGrp="1"/>
          </p:cNvSpPr>
          <p:nvPr>
            <p:ph idx="1"/>
          </p:nvPr>
        </p:nvSpPr>
        <p:spPr/>
        <p:txBody>
          <a:bodyPr/>
          <a:lstStyle/>
          <a:p>
            <a:pPr marL="91440" indent="0">
              <a:buNone/>
            </a:pPr>
            <a:r>
              <a:rPr lang="en-US" b="1" dirty="0"/>
              <a:t>Our Objective:</a:t>
            </a:r>
          </a:p>
          <a:p>
            <a:r>
              <a:rPr lang="en-US" dirty="0"/>
              <a:t>High-level goal</a:t>
            </a:r>
          </a:p>
          <a:p>
            <a:r>
              <a:rPr lang="en-US" dirty="0"/>
              <a:t>One-sentence summary of the project</a:t>
            </a:r>
          </a:p>
          <a:p>
            <a:endParaRPr lang="en-US" dirty="0">
              <a:latin typeface="Consolas" panose="020B0609020204030204" pitchFamily="49" charset="0"/>
            </a:endParaRPr>
          </a:p>
        </p:txBody>
      </p:sp>
      <p:sp>
        <p:nvSpPr>
          <p:cNvPr id="4" name="Slide Number Placeholder 3">
            <a:extLst>
              <a:ext uri="{FF2B5EF4-FFF2-40B4-BE49-F238E27FC236}">
                <a16:creationId xmlns:a16="http://schemas.microsoft.com/office/drawing/2014/main" id="{B7503AAA-807C-B452-3BEB-B90C12DCD251}"/>
              </a:ext>
            </a:extLst>
          </p:cNvPr>
          <p:cNvSpPr>
            <a:spLocks noGrp="1"/>
          </p:cNvSpPr>
          <p:nvPr>
            <p:ph type="sldNum" sz="quarter" idx="4"/>
          </p:nvPr>
        </p:nvSpPr>
        <p:spPr/>
        <p:txBody>
          <a:bodyPr/>
          <a:lstStyle/>
          <a:p>
            <a:pPr>
              <a:defRPr/>
            </a:pPr>
            <a:fld id="{C3099B72-DEA2-4ACC-9A6B-2F17D54AC7BB}" type="slidenum">
              <a:rPr lang="en-US" altLang="en-US" smtClean="0"/>
              <a:pPr>
                <a:defRPr/>
              </a:pPr>
              <a:t>7</a:t>
            </a:fld>
            <a:endParaRPr lang="en-US" altLang="en-US" dirty="0"/>
          </a:p>
        </p:txBody>
      </p:sp>
      <p:sp>
        <p:nvSpPr>
          <p:cNvPr id="9" name="TextBox 8">
            <a:extLst>
              <a:ext uri="{FF2B5EF4-FFF2-40B4-BE49-F238E27FC236}">
                <a16:creationId xmlns:a16="http://schemas.microsoft.com/office/drawing/2014/main" id="{17ED8FC4-0A6F-5A00-3D99-277A4F72B194}"/>
              </a:ext>
            </a:extLst>
          </p:cNvPr>
          <p:cNvSpPr txBox="1"/>
          <p:nvPr/>
        </p:nvSpPr>
        <p:spPr>
          <a:xfrm>
            <a:off x="228600" y="2514600"/>
            <a:ext cx="8458200" cy="956031"/>
          </a:xfrm>
          <a:prstGeom prst="rect">
            <a:avLst/>
          </a:prstGeom>
          <a:noFill/>
          <a:ln>
            <a:solidFill>
              <a:schemeClr val="accent1"/>
            </a:solidFill>
          </a:ln>
        </p:spPr>
        <p:txBody>
          <a:bodyPr wrap="square">
            <a:spAutoFit/>
          </a:bodyPr>
          <a:lstStyle/>
          <a:p>
            <a:pPr>
              <a:lnSpc>
                <a:spcPts val="1650"/>
              </a:lnSpc>
            </a:pPr>
            <a:r>
              <a:rPr lang="en-US" sz="1400" b="1" dirty="0">
                <a:solidFill>
                  <a:srgbClr val="800000"/>
                </a:solidFill>
                <a:effectLst/>
                <a:latin typeface="Consolas" panose="020B0609020204030204" pitchFamily="49" charset="0"/>
              </a:rPr>
              <a:t>## 1. Objective</a:t>
            </a:r>
            <a:endParaRPr lang="en-US" sz="1400" b="0" dirty="0">
              <a:solidFill>
                <a:srgbClr val="000000"/>
              </a:solidFill>
              <a:effectLst/>
              <a:latin typeface="Consolas" panose="020B0609020204030204" pitchFamily="49" charset="0"/>
            </a:endParaRPr>
          </a:p>
          <a:p>
            <a:pPr>
              <a:lnSpc>
                <a:spcPts val="1650"/>
              </a:lnSpc>
            </a:pPr>
            <a:r>
              <a:rPr lang="en-US" sz="1400" b="0" dirty="0">
                <a:solidFill>
                  <a:srgbClr val="000000"/>
                </a:solidFill>
                <a:effectLst/>
                <a:latin typeface="Consolas" panose="020B0609020204030204" pitchFamily="49" charset="0"/>
              </a:rPr>
              <a:t>Create a complete, single-file Python application for a classic Snake game using the Pygame library. The game should be easy to run and control, featuring a clean and visually appealing interface.</a:t>
            </a:r>
          </a:p>
        </p:txBody>
      </p:sp>
    </p:spTree>
    <p:extLst>
      <p:ext uri="{BB962C8B-B14F-4D97-AF65-F5344CB8AC3E}">
        <p14:creationId xmlns:p14="http://schemas.microsoft.com/office/powerpoint/2010/main" val="1229488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75E8-4F08-44CF-B373-8CC742DEBB94}"/>
              </a:ext>
            </a:extLst>
          </p:cNvPr>
          <p:cNvSpPr>
            <a:spLocks noGrp="1"/>
          </p:cNvSpPr>
          <p:nvPr>
            <p:ph type="title"/>
          </p:nvPr>
        </p:nvSpPr>
        <p:spPr/>
        <p:txBody>
          <a:bodyPr/>
          <a:lstStyle/>
          <a:p>
            <a:r>
              <a:rPr lang="en-US" dirty="0"/>
              <a:t>Step 2:  Gameplay Mechanics</a:t>
            </a:r>
          </a:p>
        </p:txBody>
      </p:sp>
      <p:sp>
        <p:nvSpPr>
          <p:cNvPr id="3" name="Content Placeholder 2">
            <a:extLst>
              <a:ext uri="{FF2B5EF4-FFF2-40B4-BE49-F238E27FC236}">
                <a16:creationId xmlns:a16="http://schemas.microsoft.com/office/drawing/2014/main" id="{CA9BC69E-5571-25C4-95FE-1DC2E2A3D838}"/>
              </a:ext>
            </a:extLst>
          </p:cNvPr>
          <p:cNvSpPr>
            <a:spLocks noGrp="1"/>
          </p:cNvSpPr>
          <p:nvPr>
            <p:ph idx="1"/>
          </p:nvPr>
        </p:nvSpPr>
        <p:spPr/>
        <p:txBody>
          <a:bodyPr/>
          <a:lstStyle/>
          <a:p>
            <a:r>
              <a:rPr lang="en-US" sz="1800" b="1" dirty="0"/>
              <a:t>Game Board</a:t>
            </a:r>
            <a:r>
              <a:rPr lang="en-US" sz="1800" dirty="0"/>
              <a:t>: The play area. (e.g., 800x600 window, 20x20 grid)</a:t>
            </a:r>
          </a:p>
          <a:p>
            <a:r>
              <a:rPr lang="en-US" sz="1800" b="1" dirty="0"/>
              <a:t>The Player (Snake)</a:t>
            </a:r>
            <a:r>
              <a:rPr lang="en-US" sz="1800" dirty="0"/>
              <a:t>: How does the player move and interact? (e.g., Starts in center, controlled by WASD, can't reverse).</a:t>
            </a:r>
          </a:p>
          <a:p>
            <a:r>
              <a:rPr lang="en-US" sz="1800" b="1" dirty="0"/>
              <a:t>The Goal (Food)</a:t>
            </a:r>
            <a:r>
              <a:rPr lang="en-US" sz="1800" dirty="0"/>
              <a:t>: What does the player try to achieve? (e.g., Randomly appearing food, snake grows when it eats).</a:t>
            </a:r>
          </a:p>
          <a:p>
            <a:r>
              <a:rPr lang="en-US" sz="1800" b="1" dirty="0"/>
              <a:t>Rules (Scoring &amp; Game Over)</a:t>
            </a:r>
            <a:r>
              <a:rPr lang="en-US" sz="1800" dirty="0"/>
              <a:t>: How do you win or lose? (e.g., +10 points per food, game ends on collision).</a:t>
            </a:r>
          </a:p>
          <a:p>
            <a:r>
              <a:rPr lang="en-US" sz="1800" b="1" dirty="0"/>
              <a:t>Game Flow</a:t>
            </a:r>
            <a:r>
              <a:rPr lang="en-US" sz="1800" dirty="0"/>
              <a:t>: How does the game state change? (e.g., Restart with 'R' key).</a:t>
            </a:r>
          </a:p>
        </p:txBody>
      </p:sp>
      <p:sp>
        <p:nvSpPr>
          <p:cNvPr id="4" name="Slide Number Placeholder 3">
            <a:extLst>
              <a:ext uri="{FF2B5EF4-FFF2-40B4-BE49-F238E27FC236}">
                <a16:creationId xmlns:a16="http://schemas.microsoft.com/office/drawing/2014/main" id="{E9B79F01-36EB-A063-BED6-080E699E5505}"/>
              </a:ext>
            </a:extLst>
          </p:cNvPr>
          <p:cNvSpPr>
            <a:spLocks noGrp="1"/>
          </p:cNvSpPr>
          <p:nvPr>
            <p:ph type="sldNum" sz="quarter" idx="4"/>
          </p:nvPr>
        </p:nvSpPr>
        <p:spPr/>
        <p:txBody>
          <a:bodyPr/>
          <a:lstStyle/>
          <a:p>
            <a:pPr>
              <a:defRPr/>
            </a:pPr>
            <a:fld id="{C3099B72-DEA2-4ACC-9A6B-2F17D54AC7BB}" type="slidenum">
              <a:rPr lang="en-US" altLang="en-US" smtClean="0"/>
              <a:pPr>
                <a:defRPr/>
              </a:pPr>
              <a:t>8</a:t>
            </a:fld>
            <a:endParaRPr lang="en-US" altLang="en-US" dirty="0"/>
          </a:p>
        </p:txBody>
      </p:sp>
      <p:sp>
        <p:nvSpPr>
          <p:cNvPr id="10" name="TextBox 9">
            <a:extLst>
              <a:ext uri="{FF2B5EF4-FFF2-40B4-BE49-F238E27FC236}">
                <a16:creationId xmlns:a16="http://schemas.microsoft.com/office/drawing/2014/main" id="{F478A3FD-6B2B-94AB-8B1C-3CFCD9291494}"/>
              </a:ext>
            </a:extLst>
          </p:cNvPr>
          <p:cNvSpPr txBox="1"/>
          <p:nvPr/>
        </p:nvSpPr>
        <p:spPr>
          <a:xfrm>
            <a:off x="1143000" y="3624502"/>
            <a:ext cx="7467600" cy="2700098"/>
          </a:xfrm>
          <a:prstGeom prst="rect">
            <a:avLst/>
          </a:prstGeom>
          <a:noFill/>
          <a:ln>
            <a:solidFill>
              <a:schemeClr val="accent1"/>
            </a:solidFill>
          </a:ln>
        </p:spPr>
        <p:txBody>
          <a:bodyPr wrap="square">
            <a:spAutoFit/>
          </a:bodyPr>
          <a:lstStyle/>
          <a:p>
            <a:pPr>
              <a:lnSpc>
                <a:spcPts val="1650"/>
              </a:lnSpc>
            </a:pPr>
            <a:r>
              <a:rPr lang="en-US" sz="1400" b="1" dirty="0">
                <a:solidFill>
                  <a:srgbClr val="800000"/>
                </a:solidFill>
                <a:effectLst/>
                <a:latin typeface="Consolas" panose="020B0609020204030204" pitchFamily="49" charset="0"/>
              </a:rPr>
              <a:t>## 2. Core Gameplay Mechanics</a:t>
            </a:r>
            <a:endParaRPr lang="en-US" sz="1400" b="0" dirty="0">
              <a:solidFill>
                <a:srgbClr val="000000"/>
              </a:solidFill>
              <a:effectLst/>
              <a:latin typeface="Consolas" panose="020B0609020204030204" pitchFamily="49" charset="0"/>
            </a:endParaRPr>
          </a:p>
          <a:p>
            <a:pPr>
              <a:lnSpc>
                <a:spcPts val="1650"/>
              </a:lnSpc>
            </a:pP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1" dirty="0">
                <a:solidFill>
                  <a:srgbClr val="000080"/>
                </a:solidFill>
                <a:effectLst/>
                <a:latin typeface="Consolas" panose="020B0609020204030204" pitchFamily="49" charset="0"/>
              </a:rPr>
              <a:t>**Game Board:**</a:t>
            </a:r>
            <a:endParaRPr lang="en-US" sz="1400" b="0" dirty="0">
              <a:solidFill>
                <a:srgbClr val="000000"/>
              </a:solidFill>
              <a:effectLst/>
              <a:latin typeface="Consolas" panose="020B0609020204030204" pitchFamily="49" charset="0"/>
            </a:endParaRPr>
          </a:p>
          <a:p>
            <a:pPr>
              <a:lnSpc>
                <a:spcPts val="1650"/>
              </a:lnSpc>
            </a:pPr>
            <a:r>
              <a:rPr lang="en-US" sz="1400" b="0" dirty="0">
                <a:solidFill>
                  <a:srgbClr val="000000"/>
                </a:solidFill>
                <a:effectLst/>
                <a:latin typeface="Consolas" panose="020B0609020204030204" pitchFamily="49" charset="0"/>
              </a:rPr>
              <a:t>    </a:t>
            </a: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The game should be played on a grid-based window.</a:t>
            </a:r>
          </a:p>
          <a:p>
            <a:pPr>
              <a:lnSpc>
                <a:spcPts val="1650"/>
              </a:lnSpc>
            </a:pPr>
            <a:r>
              <a:rPr lang="en-US" sz="1400" b="0" dirty="0">
                <a:solidFill>
                  <a:srgbClr val="000000"/>
                </a:solidFill>
                <a:effectLst/>
                <a:latin typeface="Consolas" panose="020B0609020204030204" pitchFamily="49" charset="0"/>
              </a:rPr>
              <a:t>    </a:t>
            </a: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Window dimensions: 800x600 pixels.</a:t>
            </a:r>
          </a:p>
          <a:p>
            <a:pPr>
              <a:lnSpc>
                <a:spcPts val="1650"/>
              </a:lnSpc>
            </a:pPr>
            <a:r>
              <a:rPr lang="en-US" sz="1400" b="0" dirty="0">
                <a:solidFill>
                  <a:srgbClr val="000000"/>
                </a:solidFill>
                <a:effectLst/>
                <a:latin typeface="Consolas" panose="020B0609020204030204" pitchFamily="49" charset="0"/>
              </a:rPr>
              <a:t>    </a:t>
            </a: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Grid size: 20x20 pixels.</a:t>
            </a:r>
          </a:p>
          <a:p>
            <a:pPr>
              <a:lnSpc>
                <a:spcPts val="1650"/>
              </a:lnSpc>
            </a:pP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1" dirty="0">
                <a:solidFill>
                  <a:srgbClr val="000080"/>
                </a:solidFill>
                <a:effectLst/>
                <a:latin typeface="Consolas" panose="020B0609020204030204" pitchFamily="49" charset="0"/>
              </a:rPr>
              <a:t>**Snake:**</a:t>
            </a:r>
            <a:endParaRPr lang="en-US" sz="1400" b="0" dirty="0">
              <a:solidFill>
                <a:srgbClr val="000000"/>
              </a:solidFill>
              <a:effectLst/>
              <a:latin typeface="Consolas" panose="020B0609020204030204" pitchFamily="49" charset="0"/>
            </a:endParaRPr>
          </a:p>
          <a:p>
            <a:pPr>
              <a:lnSpc>
                <a:spcPts val="1650"/>
              </a:lnSpc>
            </a:pPr>
            <a:r>
              <a:rPr lang="en-US" sz="1400" b="0" dirty="0">
                <a:solidFill>
                  <a:srgbClr val="000000"/>
                </a:solidFill>
                <a:effectLst/>
                <a:latin typeface="Consolas" panose="020B0609020204030204" pitchFamily="49" charset="0"/>
              </a:rPr>
              <a:t>    </a:t>
            </a: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The snake starts in the center of the screen, moving horizontally.</a:t>
            </a:r>
          </a:p>
          <a:p>
            <a:pPr>
              <a:lnSpc>
                <a:spcPts val="1650"/>
              </a:lnSpc>
            </a:pPr>
            <a:r>
              <a:rPr lang="en-US" sz="1400" b="0" dirty="0">
                <a:solidFill>
                  <a:srgbClr val="000000"/>
                </a:solidFill>
                <a:effectLst/>
                <a:latin typeface="Consolas" panose="020B0609020204030204" pitchFamily="49" charset="0"/>
              </a:rPr>
              <a:t>    </a:t>
            </a: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The snake is composed of square segments, fitting the grid.</a:t>
            </a:r>
          </a:p>
          <a:p>
            <a:pPr>
              <a:lnSpc>
                <a:spcPts val="1650"/>
              </a:lnSpc>
            </a:pPr>
            <a:r>
              <a:rPr lang="en-US" sz="1400" b="0" dirty="0">
                <a:solidFill>
                  <a:srgbClr val="000000"/>
                </a:solidFill>
                <a:effectLst/>
                <a:latin typeface="Consolas" panose="020B0609020204030204" pitchFamily="49" charset="0"/>
              </a:rPr>
              <a:t>    </a:t>
            </a: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The snake's head should be a distinct color from its body.</a:t>
            </a:r>
          </a:p>
          <a:p>
            <a:pPr>
              <a:lnSpc>
                <a:spcPts val="1650"/>
              </a:lnSpc>
            </a:pPr>
            <a:r>
              <a:rPr lang="en-US" sz="1400" b="0" dirty="0">
                <a:solidFill>
                  <a:srgbClr val="000000"/>
                </a:solidFill>
                <a:effectLst/>
                <a:latin typeface="Consolas" panose="020B0609020204030204" pitchFamily="49" charset="0"/>
              </a:rPr>
              <a:t>    </a:t>
            </a: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The snake continuously moves in its current direction.</a:t>
            </a:r>
          </a:p>
          <a:p>
            <a:pPr>
              <a:lnSpc>
                <a:spcPts val="1650"/>
              </a:lnSpc>
            </a:pPr>
            <a:r>
              <a:rPr lang="en-US" sz="1400" b="0" dirty="0">
                <a:solidFill>
                  <a:srgbClr val="000000"/>
                </a:solidFill>
                <a:effectLst/>
                <a:latin typeface="Consolas" panose="020B0609020204030204" pitchFamily="49" charset="0"/>
              </a:rPr>
              <a:t>    </a:t>
            </a: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The player can change the snake's direction using WASD keys.</a:t>
            </a:r>
          </a:p>
          <a:p>
            <a:pPr>
              <a:lnSpc>
                <a:spcPts val="1650"/>
              </a:lnSpc>
            </a:pPr>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593668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B227D-F236-7E70-F25C-54CF7D0C5170}"/>
              </a:ext>
            </a:extLst>
          </p:cNvPr>
          <p:cNvSpPr>
            <a:spLocks noGrp="1"/>
          </p:cNvSpPr>
          <p:nvPr>
            <p:ph type="title"/>
          </p:nvPr>
        </p:nvSpPr>
        <p:spPr/>
        <p:txBody>
          <a:bodyPr/>
          <a:lstStyle/>
          <a:p>
            <a:r>
              <a:rPr lang="en-US" dirty="0"/>
              <a:t>Step 3: GUI Design</a:t>
            </a:r>
          </a:p>
        </p:txBody>
      </p:sp>
      <p:sp>
        <p:nvSpPr>
          <p:cNvPr id="3" name="Content Placeholder 2">
            <a:extLst>
              <a:ext uri="{FF2B5EF4-FFF2-40B4-BE49-F238E27FC236}">
                <a16:creationId xmlns:a16="http://schemas.microsoft.com/office/drawing/2014/main" id="{9C4010FD-19A0-14D8-89FC-49BA7E3FAAA0}"/>
              </a:ext>
            </a:extLst>
          </p:cNvPr>
          <p:cNvSpPr>
            <a:spLocks noGrp="1"/>
          </p:cNvSpPr>
          <p:nvPr>
            <p:ph idx="1"/>
          </p:nvPr>
        </p:nvSpPr>
        <p:spPr/>
        <p:txBody>
          <a:bodyPr/>
          <a:lstStyle/>
          <a:p>
            <a:r>
              <a:rPr lang="en-US" b="1" dirty="0"/>
              <a:t>User Interface (UI)</a:t>
            </a:r>
            <a:r>
              <a:rPr lang="en-US" dirty="0"/>
              <a:t>: What information does the player need? (e.g., Display the score in the top-left corner).</a:t>
            </a:r>
          </a:p>
          <a:p>
            <a:r>
              <a:rPr lang="en-US" b="1" dirty="0"/>
              <a:t>Graphics &amp; Art Style</a:t>
            </a:r>
            <a:r>
              <a:rPr lang="en-US" dirty="0"/>
              <a:t>: Define the aesthetic. Simple and clean is a great starting point. (e.g., Green snake, red food, black background).</a:t>
            </a:r>
          </a:p>
          <a:p>
            <a:r>
              <a:rPr lang="en-US" b="1" dirty="0"/>
              <a:t>Sound</a:t>
            </a:r>
            <a:r>
              <a:rPr lang="en-US" dirty="0"/>
              <a:t>: Don't forget audio! For our example, we'll keep it simple. (e.g., No sound effects).</a:t>
            </a:r>
          </a:p>
        </p:txBody>
      </p:sp>
      <p:sp>
        <p:nvSpPr>
          <p:cNvPr id="4" name="Slide Number Placeholder 3">
            <a:extLst>
              <a:ext uri="{FF2B5EF4-FFF2-40B4-BE49-F238E27FC236}">
                <a16:creationId xmlns:a16="http://schemas.microsoft.com/office/drawing/2014/main" id="{1B17E4A0-F4EB-DC92-3F29-1DEC172C6E46}"/>
              </a:ext>
            </a:extLst>
          </p:cNvPr>
          <p:cNvSpPr>
            <a:spLocks noGrp="1"/>
          </p:cNvSpPr>
          <p:nvPr>
            <p:ph type="sldNum" sz="quarter" idx="4"/>
          </p:nvPr>
        </p:nvSpPr>
        <p:spPr/>
        <p:txBody>
          <a:bodyPr/>
          <a:lstStyle/>
          <a:p>
            <a:pPr>
              <a:defRPr/>
            </a:pPr>
            <a:fld id="{C3099B72-DEA2-4ACC-9A6B-2F17D54AC7BB}" type="slidenum">
              <a:rPr lang="en-US" altLang="en-US" smtClean="0"/>
              <a:pPr>
                <a:defRPr/>
              </a:pPr>
              <a:t>9</a:t>
            </a:fld>
            <a:endParaRPr lang="en-US" altLang="en-US" dirty="0"/>
          </a:p>
        </p:txBody>
      </p:sp>
      <p:sp>
        <p:nvSpPr>
          <p:cNvPr id="6" name="TextBox 5">
            <a:extLst>
              <a:ext uri="{FF2B5EF4-FFF2-40B4-BE49-F238E27FC236}">
                <a16:creationId xmlns:a16="http://schemas.microsoft.com/office/drawing/2014/main" id="{5EDC093F-AECB-4B56-13D2-1273A101EB2F}"/>
              </a:ext>
            </a:extLst>
          </p:cNvPr>
          <p:cNvSpPr txBox="1"/>
          <p:nvPr/>
        </p:nvSpPr>
        <p:spPr>
          <a:xfrm>
            <a:off x="457200" y="3215286"/>
            <a:ext cx="8382000" cy="2482090"/>
          </a:xfrm>
          <a:prstGeom prst="rect">
            <a:avLst/>
          </a:prstGeom>
          <a:noFill/>
          <a:ln>
            <a:solidFill>
              <a:schemeClr val="accent1"/>
            </a:solidFill>
          </a:ln>
        </p:spPr>
        <p:txBody>
          <a:bodyPr wrap="square">
            <a:spAutoFit/>
          </a:bodyPr>
          <a:lstStyle/>
          <a:p>
            <a:pPr>
              <a:lnSpc>
                <a:spcPts val="1650"/>
              </a:lnSpc>
            </a:pPr>
            <a:r>
              <a:rPr lang="en-US" sz="1400" b="1" dirty="0">
                <a:solidFill>
                  <a:srgbClr val="800000"/>
                </a:solidFill>
                <a:effectLst/>
                <a:latin typeface="Consolas" panose="020B0609020204030204" pitchFamily="49" charset="0"/>
              </a:rPr>
              <a:t>## 3. GUI</a:t>
            </a:r>
            <a:endParaRPr lang="en-US" sz="1400" b="0" dirty="0">
              <a:solidFill>
                <a:srgbClr val="000000"/>
              </a:solidFill>
              <a:effectLst/>
              <a:latin typeface="Consolas" panose="020B0609020204030204" pitchFamily="49" charset="0"/>
            </a:endParaRPr>
          </a:p>
          <a:p>
            <a:pPr>
              <a:lnSpc>
                <a:spcPts val="1650"/>
              </a:lnSpc>
            </a:pP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1" dirty="0">
                <a:solidFill>
                  <a:srgbClr val="000080"/>
                </a:solidFill>
                <a:effectLst/>
                <a:latin typeface="Consolas" panose="020B0609020204030204" pitchFamily="49" charset="0"/>
              </a:rPr>
              <a:t>**Graphics:**</a:t>
            </a:r>
            <a:endParaRPr lang="en-US" sz="1400" b="0" dirty="0">
              <a:solidFill>
                <a:srgbClr val="000000"/>
              </a:solidFill>
              <a:effectLst/>
              <a:latin typeface="Consolas" panose="020B0609020204030204" pitchFamily="49" charset="0"/>
            </a:endParaRPr>
          </a:p>
          <a:p>
            <a:pPr>
              <a:lnSpc>
                <a:spcPts val="1650"/>
              </a:lnSpc>
            </a:pPr>
            <a:r>
              <a:rPr lang="en-US" sz="1400" b="0" dirty="0">
                <a:solidFill>
                  <a:srgbClr val="000000"/>
                </a:solidFill>
                <a:effectLst/>
                <a:latin typeface="Consolas" panose="020B0609020204030204" pitchFamily="49" charset="0"/>
              </a:rPr>
              <a:t>    </a:t>
            </a: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Use simple, clean, 2D graphics.</a:t>
            </a:r>
          </a:p>
          <a:p>
            <a:pPr>
              <a:lnSpc>
                <a:spcPts val="1650"/>
              </a:lnSpc>
            </a:pPr>
            <a:r>
              <a:rPr lang="en-US" sz="1400" b="0" dirty="0">
                <a:solidFill>
                  <a:srgbClr val="000000"/>
                </a:solidFill>
                <a:effectLst/>
                <a:latin typeface="Consolas" panose="020B0609020204030204" pitchFamily="49" charset="0"/>
              </a:rPr>
              <a:t>    </a:t>
            </a: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The snake should be green, with a brighter green for the head.</a:t>
            </a:r>
          </a:p>
          <a:p>
            <a:pPr>
              <a:lnSpc>
                <a:spcPts val="1650"/>
              </a:lnSpc>
            </a:pPr>
            <a:r>
              <a:rPr lang="en-US" sz="1400" b="0" dirty="0">
                <a:solidFill>
                  <a:srgbClr val="000000"/>
                </a:solidFill>
                <a:effectLst/>
                <a:latin typeface="Consolas" panose="020B0609020204030204" pitchFamily="49" charset="0"/>
              </a:rPr>
              <a:t>    </a:t>
            </a: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Food items should be visually distinct, with a 3D-like effect (e.g., a circle with a shadow and highlight).</a:t>
            </a:r>
          </a:p>
          <a:p>
            <a:pPr>
              <a:lnSpc>
                <a:spcPts val="1650"/>
              </a:lnSpc>
            </a:pPr>
            <a:r>
              <a:rPr lang="en-US" sz="1400" b="0" dirty="0">
                <a:solidFill>
                  <a:srgbClr val="000000"/>
                </a:solidFill>
                <a:effectLst/>
                <a:latin typeface="Consolas" panose="020B0609020204030204" pitchFamily="49" charset="0"/>
              </a:rPr>
              <a:t>    </a:t>
            </a: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The background should be black.</a:t>
            </a:r>
          </a:p>
          <a:p>
            <a:pPr>
              <a:lnSpc>
                <a:spcPts val="1650"/>
              </a:lnSpc>
            </a:pPr>
            <a:br>
              <a:rPr lang="en-US" sz="1400" b="0" dirty="0">
                <a:solidFill>
                  <a:srgbClr val="000000"/>
                </a:solidFill>
                <a:effectLst/>
                <a:latin typeface="Consolas" panose="020B0609020204030204" pitchFamily="49" charset="0"/>
              </a:rPr>
            </a:b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1" dirty="0">
                <a:solidFill>
                  <a:srgbClr val="000080"/>
                </a:solidFill>
                <a:effectLst/>
                <a:latin typeface="Consolas" panose="020B0609020204030204" pitchFamily="49" charset="0"/>
              </a:rPr>
              <a:t>**User Interface (UI):**</a:t>
            </a:r>
            <a:endParaRPr lang="en-US" sz="1400" b="0" dirty="0">
              <a:solidFill>
                <a:srgbClr val="000000"/>
              </a:solidFill>
              <a:effectLst/>
              <a:latin typeface="Consolas" panose="020B0609020204030204" pitchFamily="49" charset="0"/>
            </a:endParaRPr>
          </a:p>
          <a:p>
            <a:pPr>
              <a:lnSpc>
                <a:spcPts val="1650"/>
              </a:lnSpc>
            </a:pPr>
            <a:r>
              <a:rPr lang="en-US" sz="1400" b="0" dirty="0">
                <a:solidFill>
                  <a:srgbClr val="000000"/>
                </a:solidFill>
                <a:effectLst/>
                <a:latin typeface="Consolas" panose="020B0609020204030204" pitchFamily="49" charset="0"/>
              </a:rPr>
              <a:t>    </a:t>
            </a: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Display the current score in the top-left corner of the screen.</a:t>
            </a:r>
          </a:p>
          <a:p>
            <a:pPr>
              <a:lnSpc>
                <a:spcPts val="1650"/>
              </a:lnSpc>
            </a:pPr>
            <a:r>
              <a:rPr lang="en-US" sz="1400" b="0" dirty="0">
                <a:solidFill>
                  <a:srgbClr val="000000"/>
                </a:solidFill>
                <a:effectLst/>
                <a:latin typeface="Consolas" panose="020B0609020204030204" pitchFamily="49" charset="0"/>
              </a:rPr>
              <a:t>    </a:t>
            </a:r>
            <a:r>
              <a:rPr lang="en-US" sz="1400" b="0" dirty="0">
                <a:solidFill>
                  <a:srgbClr val="0451A5"/>
                </a:solidFill>
                <a:effectLst/>
                <a:latin typeface="Consolas" panose="020B0609020204030204" pitchFamily="49" charset="0"/>
              </a:rPr>
              <a:t>*</a:t>
            </a:r>
            <a:r>
              <a:rPr lang="en-US" sz="1400" b="0" dirty="0">
                <a:solidFill>
                  <a:srgbClr val="000000"/>
                </a:solidFill>
                <a:effectLst/>
                <a:latin typeface="Consolas" panose="020B0609020204030204" pitchFamily="49" charset="0"/>
              </a:rPr>
              <a:t>   Display the number of food items currently on the screen below the score.</a:t>
            </a:r>
          </a:p>
        </p:txBody>
      </p:sp>
    </p:spTree>
    <p:extLst>
      <p:ext uri="{BB962C8B-B14F-4D97-AF65-F5344CB8AC3E}">
        <p14:creationId xmlns:p14="http://schemas.microsoft.com/office/powerpoint/2010/main" val="982440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8709A-F054-02D7-4BE5-0DBCFFC07C9F}"/>
              </a:ext>
            </a:extLst>
          </p:cNvPr>
          <p:cNvSpPr>
            <a:spLocks noGrp="1"/>
          </p:cNvSpPr>
          <p:nvPr>
            <p:ph type="title"/>
          </p:nvPr>
        </p:nvSpPr>
        <p:spPr/>
        <p:txBody>
          <a:bodyPr/>
          <a:lstStyle/>
          <a:p>
            <a:r>
              <a:rPr lang="en-US" dirty="0"/>
              <a:t>Step 4: The Implementation Plan</a:t>
            </a:r>
          </a:p>
        </p:txBody>
      </p:sp>
      <p:sp>
        <p:nvSpPr>
          <p:cNvPr id="3" name="Content Placeholder 2">
            <a:extLst>
              <a:ext uri="{FF2B5EF4-FFF2-40B4-BE49-F238E27FC236}">
                <a16:creationId xmlns:a16="http://schemas.microsoft.com/office/drawing/2014/main" id="{F0BB5A3F-FF95-EDE0-8332-D3FB23E84900}"/>
              </a:ext>
            </a:extLst>
          </p:cNvPr>
          <p:cNvSpPr>
            <a:spLocks noGrp="1"/>
          </p:cNvSpPr>
          <p:nvPr>
            <p:ph idx="1"/>
          </p:nvPr>
        </p:nvSpPr>
        <p:spPr/>
        <p:txBody>
          <a:bodyPr/>
          <a:lstStyle/>
          <a:p>
            <a:r>
              <a:rPr lang="en-US" b="1" dirty="0"/>
              <a:t>Language and Library</a:t>
            </a:r>
            <a:r>
              <a:rPr lang="en-US" dirty="0"/>
              <a:t>: Be explicit. (e.g., Use Python 3 and the </a:t>
            </a:r>
            <a:r>
              <a:rPr lang="en-US" b="1" dirty="0" err="1">
                <a:latin typeface="Consolas" panose="020B0609020204030204" pitchFamily="49" charset="0"/>
              </a:rPr>
              <a:t>pygame</a:t>
            </a:r>
            <a:r>
              <a:rPr lang="en-US" dirty="0"/>
              <a:t> library).</a:t>
            </a:r>
          </a:p>
          <a:p>
            <a:r>
              <a:rPr lang="en-US" b="1" dirty="0"/>
              <a:t>Code Structure</a:t>
            </a:r>
            <a:r>
              <a:rPr lang="en-US" dirty="0"/>
              <a:t>: This is key for good software engineering. We can ask the AI to follow best practices.</a:t>
            </a:r>
          </a:p>
          <a:p>
            <a:pPr lvl="1"/>
            <a:r>
              <a:rPr lang="en-US" dirty="0"/>
              <a:t>Use a class to organize the code.</a:t>
            </a:r>
          </a:p>
          <a:p>
            <a:pPr lvl="1"/>
            <a:r>
              <a:rPr lang="en-US" dirty="0"/>
              <a:t>Use constants for game parameters.</a:t>
            </a:r>
          </a:p>
          <a:p>
            <a:pPr lvl="1"/>
            <a:r>
              <a:rPr lang="en-US" dirty="0"/>
              <a:t>Use separate methods for input, updates, and drawing.</a:t>
            </a:r>
          </a:p>
          <a:p>
            <a:endParaRPr lang="en-US" dirty="0"/>
          </a:p>
        </p:txBody>
      </p:sp>
      <p:sp>
        <p:nvSpPr>
          <p:cNvPr id="4" name="Slide Number Placeholder 3">
            <a:extLst>
              <a:ext uri="{FF2B5EF4-FFF2-40B4-BE49-F238E27FC236}">
                <a16:creationId xmlns:a16="http://schemas.microsoft.com/office/drawing/2014/main" id="{7C079FEE-E124-3559-B3AA-AAA5FB15E5EF}"/>
              </a:ext>
            </a:extLst>
          </p:cNvPr>
          <p:cNvSpPr>
            <a:spLocks noGrp="1"/>
          </p:cNvSpPr>
          <p:nvPr>
            <p:ph type="sldNum" sz="quarter" idx="4"/>
          </p:nvPr>
        </p:nvSpPr>
        <p:spPr/>
        <p:txBody>
          <a:bodyPr/>
          <a:lstStyle/>
          <a:p>
            <a:pPr>
              <a:defRPr/>
            </a:pPr>
            <a:fld id="{C3099B72-DEA2-4ACC-9A6B-2F17D54AC7BB}" type="slidenum">
              <a:rPr lang="en-US" altLang="en-US" smtClean="0"/>
              <a:pPr>
                <a:defRPr/>
              </a:pPr>
              <a:t>10</a:t>
            </a:fld>
            <a:endParaRPr lang="en-US" altLang="en-US" dirty="0"/>
          </a:p>
        </p:txBody>
      </p:sp>
      <p:sp>
        <p:nvSpPr>
          <p:cNvPr id="6" name="TextBox 5">
            <a:extLst>
              <a:ext uri="{FF2B5EF4-FFF2-40B4-BE49-F238E27FC236}">
                <a16:creationId xmlns:a16="http://schemas.microsoft.com/office/drawing/2014/main" id="{203E0E2E-CFD2-A720-5101-044543F1D91E}"/>
              </a:ext>
            </a:extLst>
          </p:cNvPr>
          <p:cNvSpPr txBox="1"/>
          <p:nvPr/>
        </p:nvSpPr>
        <p:spPr>
          <a:xfrm>
            <a:off x="76200" y="3381425"/>
            <a:ext cx="8991600" cy="2308324"/>
          </a:xfrm>
          <a:prstGeom prst="rect">
            <a:avLst/>
          </a:prstGeom>
          <a:noFill/>
          <a:ln>
            <a:solidFill>
              <a:schemeClr val="accent1"/>
            </a:solidFill>
          </a:ln>
        </p:spPr>
        <p:txBody>
          <a:bodyPr wrap="square">
            <a:spAutoFit/>
          </a:bodyPr>
          <a:lstStyle/>
          <a:p>
            <a:r>
              <a:rPr lang="en-US" sz="1200" b="1" dirty="0">
                <a:solidFill>
                  <a:srgbClr val="800000"/>
                </a:solidFill>
                <a:effectLst/>
                <a:latin typeface="Consolas" panose="020B0609020204030204" pitchFamily="49" charset="0"/>
              </a:rPr>
              <a:t>## 4. Code Structure and Implementation</a:t>
            </a:r>
            <a:endParaRPr lang="en-US" sz="1200" b="0" dirty="0">
              <a:solidFill>
                <a:srgbClr val="000000"/>
              </a:solidFill>
              <a:effectLst/>
              <a:latin typeface="Consolas" panose="020B0609020204030204" pitchFamily="49" charset="0"/>
            </a:endParaRPr>
          </a:p>
          <a:p>
            <a:br>
              <a:rPr lang="en-US" sz="1200" b="0" dirty="0">
                <a:solidFill>
                  <a:srgbClr val="000000"/>
                </a:solidFill>
                <a:effectLst/>
                <a:latin typeface="Consolas" panose="020B0609020204030204" pitchFamily="49" charset="0"/>
              </a:rPr>
            </a:br>
            <a:r>
              <a:rPr lang="en-US" sz="1200" b="0" dirty="0">
                <a:solidFill>
                  <a:srgbClr val="0451A5"/>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1" dirty="0">
                <a:solidFill>
                  <a:srgbClr val="000080"/>
                </a:solidFill>
                <a:effectLst/>
                <a:latin typeface="Consolas" panose="020B0609020204030204" pitchFamily="49" charset="0"/>
              </a:rPr>
              <a:t>**Language and Library:**</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0451A5"/>
                </a:solidFill>
                <a:effectLst/>
                <a:latin typeface="Consolas" panose="020B0609020204030204" pitchFamily="49" charset="0"/>
              </a:rPr>
              <a:t>*</a:t>
            </a:r>
            <a:r>
              <a:rPr lang="en-US" sz="1200" b="0" dirty="0">
                <a:solidFill>
                  <a:srgbClr val="000000"/>
                </a:solidFill>
                <a:effectLst/>
                <a:latin typeface="Consolas" panose="020B0609020204030204" pitchFamily="49" charset="0"/>
              </a:rPr>
              <a:t>   Use Python 3.</a:t>
            </a:r>
          </a:p>
          <a:p>
            <a:r>
              <a:rPr lang="en-US" sz="1200" b="0" dirty="0">
                <a:solidFill>
                  <a:srgbClr val="000000"/>
                </a:solidFill>
                <a:effectLst/>
                <a:latin typeface="Consolas" panose="020B0609020204030204" pitchFamily="49" charset="0"/>
              </a:rPr>
              <a:t>  </a:t>
            </a:r>
            <a:r>
              <a:rPr lang="en-US" sz="1200" b="0" dirty="0">
                <a:solidFill>
                  <a:srgbClr val="0451A5"/>
                </a:solidFill>
                <a:effectLst/>
                <a:latin typeface="Consolas" panose="020B0609020204030204" pitchFamily="49" charset="0"/>
              </a:rPr>
              <a:t>*</a:t>
            </a:r>
            <a:r>
              <a:rPr lang="en-US" sz="1200" b="0" dirty="0">
                <a:solidFill>
                  <a:srgbClr val="000000"/>
                </a:solidFill>
                <a:effectLst/>
                <a:latin typeface="Consolas" panose="020B0609020204030204" pitchFamily="49" charset="0"/>
              </a:rPr>
              <a:t>   Use the </a:t>
            </a:r>
            <a:r>
              <a:rPr lang="en-US" sz="1200" b="0" dirty="0">
                <a:solidFill>
                  <a:srgbClr val="800000"/>
                </a:solidFill>
                <a:effectLst/>
                <a:latin typeface="Consolas" panose="020B0609020204030204" pitchFamily="49" charset="0"/>
              </a:rPr>
              <a:t>`</a:t>
            </a:r>
            <a:r>
              <a:rPr lang="en-US" sz="1200" b="0" dirty="0" err="1">
                <a:solidFill>
                  <a:srgbClr val="800000"/>
                </a:solidFill>
                <a:effectLst/>
                <a:latin typeface="Consolas" panose="020B0609020204030204" pitchFamily="49" charset="0"/>
              </a:rPr>
              <a:t>pygame</a:t>
            </a:r>
            <a:r>
              <a:rPr lang="en-US" sz="1200" b="0" dirty="0">
                <a:solidFill>
                  <a:srgbClr val="800000"/>
                </a:solidFill>
                <a:effectLst/>
                <a:latin typeface="Consolas" panose="020B0609020204030204" pitchFamily="49" charset="0"/>
              </a:rPr>
              <a:t>`</a:t>
            </a:r>
            <a:r>
              <a:rPr lang="en-US" sz="1200" b="0" dirty="0">
                <a:solidFill>
                  <a:srgbClr val="000000"/>
                </a:solidFill>
                <a:effectLst/>
                <a:latin typeface="Consolas" panose="020B0609020204030204" pitchFamily="49" charset="0"/>
              </a:rPr>
              <a:t> library.</a:t>
            </a:r>
          </a:p>
          <a:p>
            <a:br>
              <a:rPr lang="en-US" sz="1200" b="0" dirty="0">
                <a:solidFill>
                  <a:srgbClr val="000000"/>
                </a:solidFill>
                <a:effectLst/>
                <a:latin typeface="Consolas" panose="020B0609020204030204" pitchFamily="49" charset="0"/>
              </a:rPr>
            </a:br>
            <a:r>
              <a:rPr lang="en-US" sz="1200" b="0" dirty="0">
                <a:solidFill>
                  <a:srgbClr val="0451A5"/>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1" dirty="0">
                <a:solidFill>
                  <a:srgbClr val="000080"/>
                </a:solidFill>
                <a:effectLst/>
                <a:latin typeface="Consolas" panose="020B0609020204030204" pitchFamily="49" charset="0"/>
              </a:rPr>
              <a:t>**Structure:**</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0451A5"/>
                </a:solidFill>
                <a:effectLst/>
                <a:latin typeface="Consolas" panose="020B0609020204030204" pitchFamily="49" charset="0"/>
              </a:rPr>
              <a:t>*</a:t>
            </a:r>
            <a:r>
              <a:rPr lang="en-US" sz="1200" b="0" dirty="0">
                <a:solidFill>
                  <a:srgbClr val="000000"/>
                </a:solidFill>
                <a:effectLst/>
                <a:latin typeface="Consolas" panose="020B0609020204030204" pitchFamily="49" charset="0"/>
              </a:rPr>
              <a:t>   Organize the code within a </a:t>
            </a:r>
            <a:r>
              <a:rPr lang="en-US" sz="1200" b="0" dirty="0">
                <a:solidFill>
                  <a:srgbClr val="800000"/>
                </a:solidFill>
                <a:effectLst/>
                <a:latin typeface="Consolas" panose="020B0609020204030204" pitchFamily="49" charset="0"/>
              </a:rPr>
              <a:t>`</a:t>
            </a:r>
            <a:r>
              <a:rPr lang="en-US" sz="1200" b="0" dirty="0" err="1">
                <a:solidFill>
                  <a:srgbClr val="800000"/>
                </a:solidFill>
                <a:effectLst/>
                <a:latin typeface="Consolas" panose="020B0609020204030204" pitchFamily="49" charset="0"/>
              </a:rPr>
              <a:t>SnakeGame</a:t>
            </a:r>
            <a:r>
              <a:rPr lang="en-US" sz="1200" b="0" dirty="0">
                <a:solidFill>
                  <a:srgbClr val="800000"/>
                </a:solidFill>
                <a:effectLst/>
                <a:latin typeface="Consolas" panose="020B0609020204030204" pitchFamily="49" charset="0"/>
              </a:rPr>
              <a:t>`</a:t>
            </a:r>
            <a:r>
              <a:rPr lang="en-US" sz="1200" b="0" dirty="0">
                <a:solidFill>
                  <a:srgbClr val="000000"/>
                </a:solidFill>
                <a:effectLst/>
                <a:latin typeface="Consolas" panose="020B0609020204030204" pitchFamily="49" charset="0"/>
              </a:rPr>
              <a:t> class to encapsulate all game-related logic and data.</a:t>
            </a:r>
          </a:p>
          <a:p>
            <a:r>
              <a:rPr lang="en-US" sz="1200" b="0" dirty="0">
                <a:solidFill>
                  <a:srgbClr val="000000"/>
                </a:solidFill>
                <a:effectLst/>
                <a:latin typeface="Consolas" panose="020B0609020204030204" pitchFamily="49" charset="0"/>
              </a:rPr>
              <a:t>  </a:t>
            </a:r>
            <a:r>
              <a:rPr lang="en-US" sz="1200" b="0" dirty="0">
                <a:solidFill>
                  <a:srgbClr val="0451A5"/>
                </a:solidFill>
                <a:effectLst/>
                <a:latin typeface="Consolas" panose="020B0609020204030204" pitchFamily="49" charset="0"/>
              </a:rPr>
              <a:t>*</a:t>
            </a:r>
            <a:r>
              <a:rPr lang="en-US" sz="1200" b="0" dirty="0">
                <a:solidFill>
                  <a:srgbClr val="000000"/>
                </a:solidFill>
                <a:effectLst/>
                <a:latin typeface="Consolas" panose="020B0609020204030204" pitchFamily="49" charset="0"/>
              </a:rPr>
              <a:t>   Use constants for key game parameters like window dimensions, grid size, colors, etc.</a:t>
            </a:r>
          </a:p>
          <a:p>
            <a:r>
              <a:rPr lang="en-US" sz="1200" b="0" dirty="0">
                <a:solidFill>
                  <a:srgbClr val="000000"/>
                </a:solidFill>
                <a:effectLst/>
                <a:latin typeface="Consolas" panose="020B0609020204030204" pitchFamily="49" charset="0"/>
              </a:rPr>
              <a:t>  </a:t>
            </a:r>
            <a:r>
              <a:rPr lang="en-US" sz="1200" b="0" dirty="0">
                <a:solidFill>
                  <a:srgbClr val="0451A5"/>
                </a:solidFill>
                <a:effectLst/>
                <a:latin typeface="Consolas" panose="020B0609020204030204" pitchFamily="49" charset="0"/>
              </a:rPr>
              <a:t>*</a:t>
            </a:r>
            <a:r>
              <a:rPr lang="en-US" sz="1200" b="0" dirty="0">
                <a:solidFill>
                  <a:srgbClr val="000000"/>
                </a:solidFill>
                <a:effectLst/>
                <a:latin typeface="Consolas" panose="020B0609020204030204" pitchFamily="49" charset="0"/>
              </a:rPr>
              <a:t>   Create separate methods for handling user input, updating the game state, and rendering the game.</a:t>
            </a:r>
          </a:p>
          <a:p>
            <a:r>
              <a:rPr lang="en-US" sz="1200" b="0" dirty="0">
                <a:solidFill>
                  <a:srgbClr val="000000"/>
                </a:solidFill>
                <a:effectLst/>
                <a:latin typeface="Consolas" panose="020B0609020204030204" pitchFamily="49" charset="0"/>
              </a:rPr>
              <a:t>  </a:t>
            </a:r>
            <a:r>
              <a:rPr lang="en-US" sz="1200" b="0" dirty="0">
                <a:solidFill>
                  <a:srgbClr val="0451A5"/>
                </a:solidFill>
                <a:effectLst/>
                <a:latin typeface="Consolas" panose="020B0609020204030204" pitchFamily="49" charset="0"/>
              </a:rPr>
              <a:t>*</a:t>
            </a:r>
            <a:r>
              <a:rPr lang="en-US" sz="1200" b="0" dirty="0">
                <a:solidFill>
                  <a:srgbClr val="000000"/>
                </a:solidFill>
                <a:effectLst/>
                <a:latin typeface="Consolas" panose="020B0609020204030204" pitchFamily="49" charset="0"/>
              </a:rPr>
              <a:t>   Include a main game loop that controls the flow of the game.</a:t>
            </a:r>
          </a:p>
          <a:p>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964633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9EF5E-3ACE-0F98-AC71-3D263C218ACE}"/>
              </a:ext>
            </a:extLst>
          </p:cNvPr>
          <p:cNvSpPr>
            <a:spLocks noGrp="1"/>
          </p:cNvSpPr>
          <p:nvPr>
            <p:ph type="title"/>
          </p:nvPr>
        </p:nvSpPr>
        <p:spPr/>
        <p:txBody>
          <a:bodyPr/>
          <a:lstStyle/>
          <a:p>
            <a:r>
              <a:rPr lang="en-US" dirty="0"/>
              <a:t>Step 5: The Deliverable</a:t>
            </a:r>
          </a:p>
        </p:txBody>
      </p:sp>
      <p:sp>
        <p:nvSpPr>
          <p:cNvPr id="3" name="Content Placeholder 2">
            <a:extLst>
              <a:ext uri="{FF2B5EF4-FFF2-40B4-BE49-F238E27FC236}">
                <a16:creationId xmlns:a16="http://schemas.microsoft.com/office/drawing/2014/main" id="{FFD8A7C4-CC21-F891-B520-AE89121BA566}"/>
              </a:ext>
            </a:extLst>
          </p:cNvPr>
          <p:cNvSpPr>
            <a:spLocks noGrp="1"/>
          </p:cNvSpPr>
          <p:nvPr>
            <p:ph idx="1"/>
          </p:nvPr>
        </p:nvSpPr>
        <p:spPr/>
        <p:txBody>
          <a:bodyPr/>
          <a:lstStyle/>
          <a:p>
            <a:r>
              <a:rPr lang="en-US" dirty="0"/>
              <a:t>For a simple game, a single file is often best.</a:t>
            </a:r>
          </a:p>
          <a:p>
            <a:r>
              <a:rPr lang="en-US" dirty="0"/>
              <a:t>Our Deliverable:</a:t>
            </a:r>
          </a:p>
        </p:txBody>
      </p:sp>
      <p:sp>
        <p:nvSpPr>
          <p:cNvPr id="4" name="Slide Number Placeholder 3">
            <a:extLst>
              <a:ext uri="{FF2B5EF4-FFF2-40B4-BE49-F238E27FC236}">
                <a16:creationId xmlns:a16="http://schemas.microsoft.com/office/drawing/2014/main" id="{A8ED6F85-84D6-6672-679A-DFEC4FAAA64F}"/>
              </a:ext>
            </a:extLst>
          </p:cNvPr>
          <p:cNvSpPr>
            <a:spLocks noGrp="1"/>
          </p:cNvSpPr>
          <p:nvPr>
            <p:ph type="sldNum" sz="quarter" idx="4"/>
          </p:nvPr>
        </p:nvSpPr>
        <p:spPr/>
        <p:txBody>
          <a:bodyPr/>
          <a:lstStyle/>
          <a:p>
            <a:pPr>
              <a:defRPr/>
            </a:pPr>
            <a:fld id="{C3099B72-DEA2-4ACC-9A6B-2F17D54AC7BB}" type="slidenum">
              <a:rPr lang="en-US" altLang="en-US" smtClean="0"/>
              <a:pPr>
                <a:defRPr/>
              </a:pPr>
              <a:t>11</a:t>
            </a:fld>
            <a:endParaRPr lang="en-US" altLang="en-US" dirty="0"/>
          </a:p>
        </p:txBody>
      </p:sp>
      <p:sp>
        <p:nvSpPr>
          <p:cNvPr id="7" name="TextBox 6">
            <a:extLst>
              <a:ext uri="{FF2B5EF4-FFF2-40B4-BE49-F238E27FC236}">
                <a16:creationId xmlns:a16="http://schemas.microsoft.com/office/drawing/2014/main" id="{A03370FA-D156-8934-55F9-1EA670BC7291}"/>
              </a:ext>
            </a:extLst>
          </p:cNvPr>
          <p:cNvSpPr txBox="1"/>
          <p:nvPr/>
        </p:nvSpPr>
        <p:spPr>
          <a:xfrm>
            <a:off x="76200" y="2133600"/>
            <a:ext cx="8915400" cy="746358"/>
          </a:xfrm>
          <a:prstGeom prst="rect">
            <a:avLst/>
          </a:prstGeom>
          <a:noFill/>
          <a:ln>
            <a:solidFill>
              <a:schemeClr val="accent1"/>
            </a:solidFill>
          </a:ln>
        </p:spPr>
        <p:txBody>
          <a:bodyPr wrap="square">
            <a:spAutoFit/>
          </a:bodyPr>
          <a:lstStyle/>
          <a:p>
            <a:pPr>
              <a:lnSpc>
                <a:spcPts val="1650"/>
              </a:lnSpc>
            </a:pPr>
            <a:r>
              <a:rPr lang="en-US" sz="1600" b="1" dirty="0">
                <a:solidFill>
                  <a:srgbClr val="800000"/>
                </a:solidFill>
                <a:effectLst/>
                <a:latin typeface="Consolas" panose="020B0609020204030204" pitchFamily="49" charset="0"/>
              </a:rPr>
              <a:t>## 5. Deliverable</a:t>
            </a:r>
            <a:endParaRPr lang="en-US" sz="1600" b="0" dirty="0">
              <a:solidFill>
                <a:srgbClr val="000000"/>
              </a:solidFill>
              <a:effectLst/>
              <a:latin typeface="Consolas" panose="020B0609020204030204" pitchFamily="49" charset="0"/>
            </a:endParaRPr>
          </a:p>
          <a:p>
            <a:pPr>
              <a:lnSpc>
                <a:spcPts val="1650"/>
              </a:lnSpc>
            </a:pPr>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A single Python file (</a:t>
            </a:r>
            <a:r>
              <a:rPr lang="en-US" sz="1600" b="0" dirty="0">
                <a:solidFill>
                  <a:srgbClr val="800000"/>
                </a:solidFill>
                <a:effectLst/>
                <a:latin typeface="Consolas" panose="020B0609020204030204" pitchFamily="49" charset="0"/>
              </a:rPr>
              <a:t>`snake_game.py`</a:t>
            </a:r>
            <a:r>
              <a:rPr lang="en-US" sz="1600" b="0" dirty="0">
                <a:solidFill>
                  <a:srgbClr val="000000"/>
                </a:solidFill>
                <a:effectLst/>
                <a:latin typeface="Consolas" panose="020B0609020204030204" pitchFamily="49" charset="0"/>
              </a:rPr>
              <a:t>) containing the complete, runnable game.</a:t>
            </a:r>
          </a:p>
        </p:txBody>
      </p:sp>
    </p:spTree>
    <p:extLst>
      <p:ext uri="{BB962C8B-B14F-4D97-AF65-F5344CB8AC3E}">
        <p14:creationId xmlns:p14="http://schemas.microsoft.com/office/powerpoint/2010/main" val="250239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81925-BAEF-F427-1BC1-C046CDCAAFE4}"/>
              </a:ext>
            </a:extLst>
          </p:cNvPr>
          <p:cNvSpPr>
            <a:spLocks noGrp="1"/>
          </p:cNvSpPr>
          <p:nvPr>
            <p:ph type="title"/>
          </p:nvPr>
        </p:nvSpPr>
        <p:spPr/>
        <p:txBody>
          <a:bodyPr/>
          <a:lstStyle/>
          <a:p>
            <a:r>
              <a:rPr lang="en-US" dirty="0"/>
              <a:t>The Final Prompt</a:t>
            </a:r>
          </a:p>
        </p:txBody>
      </p:sp>
      <p:sp>
        <p:nvSpPr>
          <p:cNvPr id="3" name="Content Placeholder 2">
            <a:extLst>
              <a:ext uri="{FF2B5EF4-FFF2-40B4-BE49-F238E27FC236}">
                <a16:creationId xmlns:a16="http://schemas.microsoft.com/office/drawing/2014/main" id="{F3B78FCF-48CF-752D-6EB5-6B11F028F611}"/>
              </a:ext>
            </a:extLst>
          </p:cNvPr>
          <p:cNvSpPr>
            <a:spLocks noGrp="1"/>
          </p:cNvSpPr>
          <p:nvPr>
            <p:ph idx="1"/>
          </p:nvPr>
        </p:nvSpPr>
        <p:spPr/>
        <p:txBody>
          <a:bodyPr/>
          <a:lstStyle/>
          <a:p>
            <a:r>
              <a:rPr lang="en-US" dirty="0"/>
              <a:t>Final Prompt File</a:t>
            </a:r>
          </a:p>
        </p:txBody>
      </p:sp>
      <p:sp>
        <p:nvSpPr>
          <p:cNvPr id="4" name="Slide Number Placeholder 3">
            <a:extLst>
              <a:ext uri="{FF2B5EF4-FFF2-40B4-BE49-F238E27FC236}">
                <a16:creationId xmlns:a16="http://schemas.microsoft.com/office/drawing/2014/main" id="{844B1929-F108-9EDB-7DAC-10E2829FA787}"/>
              </a:ext>
            </a:extLst>
          </p:cNvPr>
          <p:cNvSpPr>
            <a:spLocks noGrp="1"/>
          </p:cNvSpPr>
          <p:nvPr>
            <p:ph type="sldNum" sz="quarter" idx="4"/>
          </p:nvPr>
        </p:nvSpPr>
        <p:spPr/>
        <p:txBody>
          <a:bodyPr/>
          <a:lstStyle/>
          <a:p>
            <a:pPr>
              <a:defRPr/>
            </a:pPr>
            <a:fld id="{C3099B72-DEA2-4ACC-9A6B-2F17D54AC7BB}" type="slidenum">
              <a:rPr lang="en-US" altLang="en-US" smtClean="0"/>
              <a:pPr>
                <a:defRPr/>
              </a:pPr>
              <a:t>12</a:t>
            </a:fld>
            <a:endParaRPr lang="en-US" altLang="en-US" dirty="0"/>
          </a:p>
        </p:txBody>
      </p:sp>
      <p:pic>
        <p:nvPicPr>
          <p:cNvPr id="8" name="Picture 7">
            <a:extLst>
              <a:ext uri="{FF2B5EF4-FFF2-40B4-BE49-F238E27FC236}">
                <a16:creationId xmlns:a16="http://schemas.microsoft.com/office/drawing/2014/main" id="{F4F1A81B-0920-0AB0-C206-E3E224AE80BA}"/>
              </a:ext>
            </a:extLst>
          </p:cNvPr>
          <p:cNvPicPr>
            <a:picLocks noChangeAspect="1"/>
          </p:cNvPicPr>
          <p:nvPr/>
        </p:nvPicPr>
        <p:blipFill>
          <a:blip r:embed="rId3"/>
          <a:stretch>
            <a:fillRect/>
          </a:stretch>
        </p:blipFill>
        <p:spPr>
          <a:xfrm>
            <a:off x="457200" y="1905000"/>
            <a:ext cx="6020109" cy="3391074"/>
          </a:xfrm>
          <a:prstGeom prst="rect">
            <a:avLst/>
          </a:prstGeom>
          <a:ln>
            <a:solidFill>
              <a:schemeClr val="accent1"/>
            </a:solidFill>
          </a:ln>
        </p:spPr>
      </p:pic>
    </p:spTree>
    <p:extLst>
      <p:ext uri="{BB962C8B-B14F-4D97-AF65-F5344CB8AC3E}">
        <p14:creationId xmlns:p14="http://schemas.microsoft.com/office/powerpoint/2010/main" val="648165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252D2-65FE-8C64-EFD6-1D19504A8D34}"/>
              </a:ext>
            </a:extLst>
          </p:cNvPr>
          <p:cNvSpPr>
            <a:spLocks noGrp="1"/>
          </p:cNvSpPr>
          <p:nvPr>
            <p:ph type="title"/>
          </p:nvPr>
        </p:nvSpPr>
        <p:spPr/>
        <p:txBody>
          <a:bodyPr/>
          <a:lstStyle/>
          <a:p>
            <a:r>
              <a:rPr lang="en-US" dirty="0"/>
              <a:t>Vibe Coding: Live Demo!</a:t>
            </a:r>
          </a:p>
        </p:txBody>
      </p:sp>
      <p:sp>
        <p:nvSpPr>
          <p:cNvPr id="3" name="Content Placeholder 2">
            <a:extLst>
              <a:ext uri="{FF2B5EF4-FFF2-40B4-BE49-F238E27FC236}">
                <a16:creationId xmlns:a16="http://schemas.microsoft.com/office/drawing/2014/main" id="{7EDE7B29-19AC-2E31-6A92-64EE7573C54A}"/>
              </a:ext>
            </a:extLst>
          </p:cNvPr>
          <p:cNvSpPr>
            <a:spLocks noGrp="1"/>
          </p:cNvSpPr>
          <p:nvPr>
            <p:ph idx="1"/>
          </p:nvPr>
        </p:nvSpPr>
        <p:spPr/>
        <p:txBody>
          <a:bodyPr/>
          <a:lstStyle/>
          <a:p>
            <a:r>
              <a:rPr lang="en-US" dirty="0"/>
              <a:t>Recommended AI CLI Tools for This Workshop:</a:t>
            </a:r>
          </a:p>
          <a:p>
            <a:pPr marL="800100" lvl="1" indent="-342900"/>
            <a:r>
              <a:rPr lang="en-US" b="1" dirty="0"/>
              <a:t>GitHub Copilot CLI </a:t>
            </a:r>
            <a:r>
              <a:rPr lang="en-US" dirty="0"/>
              <a:t>- Free for students with GitHub Education</a:t>
            </a:r>
          </a:p>
          <a:p>
            <a:pPr marL="800100" lvl="1" indent="-342900"/>
            <a:r>
              <a:rPr lang="en-US" b="1" dirty="0"/>
              <a:t>Gemini CLI </a:t>
            </a:r>
            <a:r>
              <a:rPr lang="en-US" dirty="0"/>
              <a:t>- Free tier available </a:t>
            </a:r>
          </a:p>
          <a:p>
            <a:pPr marL="525780" indent="-342900"/>
            <a:r>
              <a:rPr lang="en-US" dirty="0"/>
              <a:t>Both tools work great for game prototyping. Choose whichever you prefer!</a:t>
            </a:r>
          </a:p>
          <a:p>
            <a:endParaRPr lang="en-US" dirty="0"/>
          </a:p>
        </p:txBody>
      </p:sp>
      <p:sp>
        <p:nvSpPr>
          <p:cNvPr id="4" name="Slide Number Placeholder 3">
            <a:extLst>
              <a:ext uri="{FF2B5EF4-FFF2-40B4-BE49-F238E27FC236}">
                <a16:creationId xmlns:a16="http://schemas.microsoft.com/office/drawing/2014/main" id="{B9E38B8E-3437-9542-51CD-91B84D3E16F0}"/>
              </a:ext>
            </a:extLst>
          </p:cNvPr>
          <p:cNvSpPr>
            <a:spLocks noGrp="1"/>
          </p:cNvSpPr>
          <p:nvPr>
            <p:ph type="sldNum" sz="quarter" idx="4"/>
          </p:nvPr>
        </p:nvSpPr>
        <p:spPr/>
        <p:txBody>
          <a:bodyPr/>
          <a:lstStyle/>
          <a:p>
            <a:pPr>
              <a:defRPr/>
            </a:pPr>
            <a:fld id="{C3099B72-DEA2-4ACC-9A6B-2F17D54AC7BB}" type="slidenum">
              <a:rPr lang="en-US" altLang="en-US" smtClean="0"/>
              <a:pPr>
                <a:defRPr/>
              </a:pPr>
              <a:t>13</a:t>
            </a:fld>
            <a:endParaRPr lang="en-US" altLang="en-US" dirty="0"/>
          </a:p>
        </p:txBody>
      </p:sp>
      <p:pic>
        <p:nvPicPr>
          <p:cNvPr id="8" name="Picture 7">
            <a:extLst>
              <a:ext uri="{FF2B5EF4-FFF2-40B4-BE49-F238E27FC236}">
                <a16:creationId xmlns:a16="http://schemas.microsoft.com/office/drawing/2014/main" id="{C98C5E20-374E-54DE-4FE6-F120E7614B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613" y="3353739"/>
            <a:ext cx="3937375" cy="2067885"/>
          </a:xfrm>
          <a:prstGeom prst="rect">
            <a:avLst/>
          </a:prstGeom>
        </p:spPr>
      </p:pic>
      <p:pic>
        <p:nvPicPr>
          <p:cNvPr id="10" name="Picture 9">
            <a:extLst>
              <a:ext uri="{FF2B5EF4-FFF2-40B4-BE49-F238E27FC236}">
                <a16:creationId xmlns:a16="http://schemas.microsoft.com/office/drawing/2014/main" id="{C284D8E3-BB76-9F9B-2C49-4CAC33B6F965}"/>
              </a:ext>
            </a:extLst>
          </p:cNvPr>
          <p:cNvPicPr>
            <a:picLocks noChangeAspect="1"/>
          </p:cNvPicPr>
          <p:nvPr/>
        </p:nvPicPr>
        <p:blipFill>
          <a:blip r:embed="rId3"/>
          <a:stretch>
            <a:fillRect/>
          </a:stretch>
        </p:blipFill>
        <p:spPr>
          <a:xfrm>
            <a:off x="4641701" y="4247513"/>
            <a:ext cx="4107784" cy="1858971"/>
          </a:xfrm>
          <a:prstGeom prst="rect">
            <a:avLst/>
          </a:prstGeom>
          <a:ln>
            <a:solidFill>
              <a:schemeClr val="accent1"/>
            </a:solidFill>
          </a:ln>
        </p:spPr>
      </p:pic>
    </p:spTree>
    <p:extLst>
      <p:ext uri="{BB962C8B-B14F-4D97-AF65-F5344CB8AC3E}">
        <p14:creationId xmlns:p14="http://schemas.microsoft.com/office/powerpoint/2010/main" val="991435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D0F96-B287-5089-2DD3-6C2680F22D86}"/>
              </a:ext>
            </a:extLst>
          </p:cNvPr>
          <p:cNvSpPr>
            <a:spLocks noGrp="1"/>
          </p:cNvSpPr>
          <p:nvPr>
            <p:ph type="title"/>
          </p:nvPr>
        </p:nvSpPr>
        <p:spPr/>
        <p:txBody>
          <a:bodyPr/>
          <a:lstStyle/>
          <a:p>
            <a:r>
              <a:rPr lang="en-US" dirty="0"/>
              <a:t>More Game Design Prompt Templates</a:t>
            </a:r>
          </a:p>
        </p:txBody>
      </p:sp>
      <p:sp>
        <p:nvSpPr>
          <p:cNvPr id="3" name="Content Placeholder 2">
            <a:extLst>
              <a:ext uri="{FF2B5EF4-FFF2-40B4-BE49-F238E27FC236}">
                <a16:creationId xmlns:a16="http://schemas.microsoft.com/office/drawing/2014/main" id="{4D797A41-8894-63EC-83A1-15166460CDA9}"/>
              </a:ext>
            </a:extLst>
          </p:cNvPr>
          <p:cNvSpPr>
            <a:spLocks noGrp="1"/>
          </p:cNvSpPr>
          <p:nvPr>
            <p:ph idx="1"/>
          </p:nvPr>
        </p:nvSpPr>
        <p:spPr/>
        <p:txBody>
          <a:bodyPr/>
          <a:lstStyle/>
          <a:p>
            <a:r>
              <a:rPr lang="en-US" dirty="0"/>
              <a:t>More game prompts are available in </a:t>
            </a:r>
            <a:r>
              <a:rPr lang="en-US" b="1" dirty="0">
                <a:latin typeface="Consolas" panose="020B0609020204030204" pitchFamily="49" charset="0"/>
              </a:rPr>
              <a:t>/prompts/</a:t>
            </a:r>
            <a:r>
              <a:rPr lang="en-US" dirty="0"/>
              <a:t>:</a:t>
            </a:r>
          </a:p>
          <a:p>
            <a:pPr lvl="1"/>
            <a:r>
              <a:rPr lang="en-US" sz="1600" dirty="0">
                <a:latin typeface="Consolas" panose="020B0609020204030204" pitchFamily="49" charset="0"/>
              </a:rPr>
              <a:t>game_design_prompt_snake.md </a:t>
            </a:r>
            <a:r>
              <a:rPr lang="en-US" sz="1600" dirty="0"/>
              <a:t>- Classic Snake game</a:t>
            </a:r>
          </a:p>
          <a:p>
            <a:pPr lvl="1"/>
            <a:r>
              <a:rPr lang="en-US" sz="1600" dirty="0">
                <a:latin typeface="Consolas" panose="020B0609020204030204" pitchFamily="49" charset="0"/>
              </a:rPr>
              <a:t>game_design_prompt_pingpong.m</a:t>
            </a:r>
            <a:r>
              <a:rPr lang="en-US" sz="1600" dirty="0"/>
              <a:t>d - Two-player Pong game</a:t>
            </a:r>
          </a:p>
          <a:p>
            <a:pPr lvl="1"/>
            <a:r>
              <a:rPr lang="en-US" sz="1600" dirty="0">
                <a:latin typeface="Consolas" panose="020B0609020204030204" pitchFamily="49" charset="0"/>
              </a:rPr>
              <a:t>game_design_prompt_breakout.md </a:t>
            </a:r>
            <a:r>
              <a:rPr lang="en-US" sz="1600" dirty="0"/>
              <a:t>- Brick breaker game</a:t>
            </a:r>
          </a:p>
          <a:p>
            <a:pPr lvl="1"/>
            <a:r>
              <a:rPr lang="en-US" sz="1600" dirty="0">
                <a:latin typeface="Consolas" panose="020B0609020204030204" pitchFamily="49" charset="0"/>
              </a:rPr>
              <a:t>game_design_prompt_flappybird.md </a:t>
            </a:r>
            <a:r>
              <a:rPr lang="en-US" sz="1600" dirty="0"/>
              <a:t>- Flappy Bird style game</a:t>
            </a:r>
          </a:p>
          <a:p>
            <a:pPr lvl="1"/>
            <a:r>
              <a:rPr lang="en-US" sz="1600" dirty="0">
                <a:latin typeface="Consolas" panose="020B0609020204030204" pitchFamily="49" charset="0"/>
              </a:rPr>
              <a:t>game_design_prompt_spaceshooter.md </a:t>
            </a:r>
            <a:r>
              <a:rPr lang="en-US" sz="1600" dirty="0"/>
              <a:t>- Vertical space shooter</a:t>
            </a:r>
          </a:p>
          <a:p>
            <a:pPr lvl="1"/>
            <a:r>
              <a:rPr lang="en-US" sz="1600" dirty="0">
                <a:latin typeface="Consolas" panose="020B0609020204030204" pitchFamily="49" charset="0"/>
              </a:rPr>
              <a:t>game_design_prompt_mazerunner.md</a:t>
            </a:r>
            <a:r>
              <a:rPr lang="en-US" sz="1600" dirty="0"/>
              <a:t> - Maze navigation game</a:t>
            </a:r>
          </a:p>
          <a:p>
            <a:pPr lvl="1"/>
            <a:endParaRPr lang="en-US" dirty="0"/>
          </a:p>
          <a:p>
            <a:r>
              <a:rPr lang="en-US" i="1" dirty="0"/>
              <a:t>Each prompt includes: Objective, Gameplay Mechanics, GUI Design, Implementation Plan, and Deliverable</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30292D34-F3DF-FFD5-B609-5D8E6DAA5B19}"/>
              </a:ext>
            </a:extLst>
          </p:cNvPr>
          <p:cNvSpPr>
            <a:spLocks noGrp="1"/>
          </p:cNvSpPr>
          <p:nvPr>
            <p:ph type="sldNum" sz="quarter" idx="4"/>
          </p:nvPr>
        </p:nvSpPr>
        <p:spPr/>
        <p:txBody>
          <a:bodyPr/>
          <a:lstStyle/>
          <a:p>
            <a:pPr>
              <a:defRPr/>
            </a:pPr>
            <a:fld id="{C3099B72-DEA2-4ACC-9A6B-2F17D54AC7BB}" type="slidenum">
              <a:rPr lang="en-US" altLang="en-US" smtClean="0"/>
              <a:pPr>
                <a:defRPr/>
              </a:pPr>
              <a:t>14</a:t>
            </a:fld>
            <a:endParaRPr lang="en-US" altLang="en-US" dirty="0"/>
          </a:p>
        </p:txBody>
      </p:sp>
      <p:sp>
        <p:nvSpPr>
          <p:cNvPr id="10" name="TextBox 9">
            <a:extLst>
              <a:ext uri="{FF2B5EF4-FFF2-40B4-BE49-F238E27FC236}">
                <a16:creationId xmlns:a16="http://schemas.microsoft.com/office/drawing/2014/main" id="{3A1985AB-83C0-D32B-DE0B-1D2A3C5E20F7}"/>
              </a:ext>
            </a:extLst>
          </p:cNvPr>
          <p:cNvSpPr txBox="1"/>
          <p:nvPr/>
        </p:nvSpPr>
        <p:spPr>
          <a:xfrm>
            <a:off x="3886200" y="5486400"/>
            <a:ext cx="5105400" cy="646331"/>
          </a:xfrm>
          <a:prstGeom prst="rect">
            <a:avLst/>
          </a:prstGeom>
          <a:noFill/>
        </p:spPr>
        <p:txBody>
          <a:bodyPr wrap="square">
            <a:spAutoFit/>
          </a:bodyPr>
          <a:lstStyle/>
          <a:p>
            <a:r>
              <a:rPr lang="en-US" b="1" dirty="0">
                <a:latin typeface="Consolas" panose="020B0609020204030204" pitchFamily="49" charset="0"/>
              </a:rPr>
              <a:t>Workshop GitHub Repository:</a:t>
            </a:r>
          </a:p>
          <a:p>
            <a:r>
              <a:rPr lang="en-US" b="1" dirty="0">
                <a:latin typeface="Consolas" panose="020B0609020204030204" pitchFamily="49" charset="0"/>
                <a:hlinkClick r:id="rId2"/>
              </a:rPr>
              <a:t>https://github.com/tisage/game-llm/</a:t>
            </a:r>
            <a:endParaRPr lang="en-US" b="1" dirty="0">
              <a:latin typeface="Consolas" panose="020B0609020204030204" pitchFamily="49" charset="0"/>
            </a:endParaRPr>
          </a:p>
        </p:txBody>
      </p:sp>
    </p:spTree>
    <p:extLst>
      <p:ext uri="{BB962C8B-B14F-4D97-AF65-F5344CB8AC3E}">
        <p14:creationId xmlns:p14="http://schemas.microsoft.com/office/powerpoint/2010/main" val="1102038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E61EA-C270-D40B-D631-3457C9A871DD}"/>
              </a:ext>
            </a:extLst>
          </p:cNvPr>
          <p:cNvSpPr>
            <a:spLocks noGrp="1"/>
          </p:cNvSpPr>
          <p:nvPr>
            <p:ph type="title"/>
          </p:nvPr>
        </p:nvSpPr>
        <p:spPr/>
        <p:txBody>
          <a:bodyPr/>
          <a:lstStyle/>
          <a:p>
            <a:r>
              <a:rPr lang="en-US" dirty="0"/>
              <a:t>Recap</a:t>
            </a:r>
          </a:p>
        </p:txBody>
      </p:sp>
      <p:sp>
        <p:nvSpPr>
          <p:cNvPr id="3" name="Content Placeholder 2">
            <a:extLst>
              <a:ext uri="{FF2B5EF4-FFF2-40B4-BE49-F238E27FC236}">
                <a16:creationId xmlns:a16="http://schemas.microsoft.com/office/drawing/2014/main" id="{210A4D1A-8F39-5099-DC32-DD41B787AB49}"/>
              </a:ext>
            </a:extLst>
          </p:cNvPr>
          <p:cNvSpPr>
            <a:spLocks noGrp="1"/>
          </p:cNvSpPr>
          <p:nvPr>
            <p:ph idx="1"/>
          </p:nvPr>
        </p:nvSpPr>
        <p:spPr/>
        <p:txBody>
          <a:bodyPr/>
          <a:lstStyle/>
          <a:p>
            <a:r>
              <a:rPr lang="en-US" b="1" dirty="0"/>
              <a:t>Idea</a:t>
            </a:r>
            <a:r>
              <a:rPr lang="en-US" dirty="0"/>
              <a:t>: We had an idea for a game.</a:t>
            </a:r>
          </a:p>
          <a:p>
            <a:r>
              <a:rPr lang="en-US" b="1" dirty="0"/>
              <a:t>Prompt</a:t>
            </a:r>
            <a:r>
              <a:rPr lang="en-US" dirty="0"/>
              <a:t>: We translated that idea into a detailed, structured design document.</a:t>
            </a:r>
          </a:p>
          <a:p>
            <a:r>
              <a:rPr lang="en-US" b="1" dirty="0"/>
              <a:t>Code</a:t>
            </a:r>
            <a:r>
              <a:rPr lang="en-US" dirty="0"/>
              <a:t>: The AI generated the code based on our blueprint.</a:t>
            </a:r>
          </a:p>
          <a:p>
            <a:r>
              <a:rPr lang="en-US" b="1" dirty="0"/>
              <a:t>Refine</a:t>
            </a:r>
            <a:r>
              <a:rPr lang="en-US" dirty="0"/>
              <a:t>: We can easily tweak the design and have the AI apply the changes.</a:t>
            </a:r>
          </a:p>
        </p:txBody>
      </p:sp>
      <p:sp>
        <p:nvSpPr>
          <p:cNvPr id="4" name="Slide Number Placeholder 3">
            <a:extLst>
              <a:ext uri="{FF2B5EF4-FFF2-40B4-BE49-F238E27FC236}">
                <a16:creationId xmlns:a16="http://schemas.microsoft.com/office/drawing/2014/main" id="{5B0E78B5-A93A-8D73-2451-887E99EF2561}"/>
              </a:ext>
            </a:extLst>
          </p:cNvPr>
          <p:cNvSpPr>
            <a:spLocks noGrp="1"/>
          </p:cNvSpPr>
          <p:nvPr>
            <p:ph type="sldNum" sz="quarter" idx="4"/>
          </p:nvPr>
        </p:nvSpPr>
        <p:spPr/>
        <p:txBody>
          <a:bodyPr/>
          <a:lstStyle/>
          <a:p>
            <a:pPr>
              <a:defRPr/>
            </a:pPr>
            <a:fld id="{C3099B72-DEA2-4ACC-9A6B-2F17D54AC7BB}" type="slidenum">
              <a:rPr lang="en-US" altLang="en-US" smtClean="0"/>
              <a:pPr>
                <a:defRPr/>
              </a:pPr>
              <a:t>15</a:t>
            </a:fld>
            <a:endParaRPr lang="en-US" altLang="en-US" dirty="0"/>
          </a:p>
        </p:txBody>
      </p:sp>
      <p:pic>
        <p:nvPicPr>
          <p:cNvPr id="10244" name="Picture 4">
            <a:extLst>
              <a:ext uri="{FF2B5EF4-FFF2-40B4-BE49-F238E27FC236}">
                <a16:creationId xmlns:a16="http://schemas.microsoft.com/office/drawing/2014/main" id="{F0BB1E1D-C798-DB03-FFC8-7C9DFE7583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833" b="10416"/>
          <a:stretch/>
        </p:blipFill>
        <p:spPr bwMode="auto">
          <a:xfrm>
            <a:off x="2057400" y="2895600"/>
            <a:ext cx="6800406" cy="3300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4623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FD196-DA16-4BA2-51F2-0FAA85EE5D9B}"/>
              </a:ext>
            </a:extLst>
          </p:cNvPr>
          <p:cNvSpPr>
            <a:spLocks noGrp="1"/>
          </p:cNvSpPr>
          <p:nvPr>
            <p:ph type="title"/>
          </p:nvPr>
        </p:nvSpPr>
        <p:spPr/>
        <p:txBody>
          <a:bodyPr/>
          <a:lstStyle/>
          <a:p>
            <a:r>
              <a:rPr lang="en-US" dirty="0"/>
              <a:t>Q &amp; A</a:t>
            </a:r>
          </a:p>
        </p:txBody>
      </p:sp>
      <p:sp>
        <p:nvSpPr>
          <p:cNvPr id="3" name="Content Placeholder 2">
            <a:extLst>
              <a:ext uri="{FF2B5EF4-FFF2-40B4-BE49-F238E27FC236}">
                <a16:creationId xmlns:a16="http://schemas.microsoft.com/office/drawing/2014/main" id="{CB897BF4-97AE-D37A-FDDD-B6D507E0E900}"/>
              </a:ext>
            </a:extLst>
          </p:cNvPr>
          <p:cNvSpPr>
            <a:spLocks noGrp="1"/>
          </p:cNvSpPr>
          <p:nvPr>
            <p:ph idx="1"/>
          </p:nvPr>
        </p:nvSpPr>
        <p:spPr/>
        <p:txBody>
          <a:bodyPr/>
          <a:lstStyle/>
          <a:p>
            <a:r>
              <a:rPr lang="en-US" sz="3200" b="1" dirty="0"/>
              <a:t>Thank You!</a:t>
            </a:r>
          </a:p>
        </p:txBody>
      </p:sp>
      <p:sp>
        <p:nvSpPr>
          <p:cNvPr id="4" name="Slide Number Placeholder 3">
            <a:extLst>
              <a:ext uri="{FF2B5EF4-FFF2-40B4-BE49-F238E27FC236}">
                <a16:creationId xmlns:a16="http://schemas.microsoft.com/office/drawing/2014/main" id="{262DE008-8337-61FF-4828-F3130242B78F}"/>
              </a:ext>
            </a:extLst>
          </p:cNvPr>
          <p:cNvSpPr>
            <a:spLocks noGrp="1"/>
          </p:cNvSpPr>
          <p:nvPr>
            <p:ph type="sldNum" sz="quarter" idx="4"/>
          </p:nvPr>
        </p:nvSpPr>
        <p:spPr/>
        <p:txBody>
          <a:bodyPr/>
          <a:lstStyle/>
          <a:p>
            <a:pPr>
              <a:defRPr/>
            </a:pPr>
            <a:fld id="{C3099B72-DEA2-4ACC-9A6B-2F17D54AC7BB}" type="slidenum">
              <a:rPr lang="en-US" altLang="en-US" smtClean="0"/>
              <a:pPr>
                <a:defRPr/>
              </a:pPr>
              <a:t>16</a:t>
            </a:fld>
            <a:endParaRPr lang="en-US" altLang="en-US" dirty="0"/>
          </a:p>
        </p:txBody>
      </p:sp>
      <p:sp>
        <p:nvSpPr>
          <p:cNvPr id="9" name="TextBox 8">
            <a:extLst>
              <a:ext uri="{FF2B5EF4-FFF2-40B4-BE49-F238E27FC236}">
                <a16:creationId xmlns:a16="http://schemas.microsoft.com/office/drawing/2014/main" id="{7E0BA0BF-8B28-0C22-F625-D9BC84522BE2}"/>
              </a:ext>
            </a:extLst>
          </p:cNvPr>
          <p:cNvSpPr txBox="1"/>
          <p:nvPr/>
        </p:nvSpPr>
        <p:spPr>
          <a:xfrm>
            <a:off x="3886200" y="5486400"/>
            <a:ext cx="5105400" cy="646331"/>
          </a:xfrm>
          <a:prstGeom prst="rect">
            <a:avLst/>
          </a:prstGeom>
          <a:noFill/>
        </p:spPr>
        <p:txBody>
          <a:bodyPr wrap="square">
            <a:spAutoFit/>
          </a:bodyPr>
          <a:lstStyle/>
          <a:p>
            <a:r>
              <a:rPr lang="en-US" b="1" dirty="0">
                <a:latin typeface="Consolas" panose="020B0609020204030204" pitchFamily="49" charset="0"/>
              </a:rPr>
              <a:t>Workshop GitHub Repository:</a:t>
            </a:r>
          </a:p>
          <a:p>
            <a:r>
              <a:rPr lang="en-US" b="1" dirty="0">
                <a:latin typeface="Consolas" panose="020B0609020204030204" pitchFamily="49" charset="0"/>
                <a:hlinkClick r:id="rId3"/>
              </a:rPr>
              <a:t>https://github.com/tisage/game-llm/</a:t>
            </a:r>
            <a:endParaRPr lang="en-US" b="1" dirty="0">
              <a:latin typeface="Consolas" panose="020B0609020204030204" pitchFamily="49" charset="0"/>
            </a:endParaRPr>
          </a:p>
        </p:txBody>
      </p:sp>
    </p:spTree>
    <p:extLst>
      <p:ext uri="{BB962C8B-B14F-4D97-AF65-F5344CB8AC3E}">
        <p14:creationId xmlns:p14="http://schemas.microsoft.com/office/powerpoint/2010/main" val="603659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A37D4-CB76-4FC1-D961-A2A22AE34F8B}"/>
              </a:ext>
            </a:extLst>
          </p:cNvPr>
          <p:cNvSpPr>
            <a:spLocks noGrp="1"/>
          </p:cNvSpPr>
          <p:nvPr>
            <p:ph type="title"/>
          </p:nvPr>
        </p:nvSpPr>
        <p:spPr/>
        <p:txBody>
          <a:bodyPr/>
          <a:lstStyle/>
          <a:p>
            <a:r>
              <a:rPr lang="en-US" dirty="0"/>
              <a:t>New Course CISC395 (Spring 2026)</a:t>
            </a:r>
          </a:p>
        </p:txBody>
      </p:sp>
      <p:sp>
        <p:nvSpPr>
          <p:cNvPr id="3" name="Content Placeholder 2">
            <a:extLst>
              <a:ext uri="{FF2B5EF4-FFF2-40B4-BE49-F238E27FC236}">
                <a16:creationId xmlns:a16="http://schemas.microsoft.com/office/drawing/2014/main" id="{CCE8FDE8-92E9-E584-2234-DA6934F43D6F}"/>
              </a:ext>
            </a:extLst>
          </p:cNvPr>
          <p:cNvSpPr>
            <a:spLocks noGrp="1"/>
          </p:cNvSpPr>
          <p:nvPr>
            <p:ph idx="1"/>
          </p:nvPr>
        </p:nvSpPr>
        <p:spPr/>
        <p:txBody>
          <a:bodyPr/>
          <a:lstStyle/>
          <a:p>
            <a:pPr marL="91440" indent="0">
              <a:buNone/>
            </a:pPr>
            <a:r>
              <a:rPr lang="en-US" b="1" dirty="0"/>
              <a:t>New Course:</a:t>
            </a:r>
          </a:p>
          <a:p>
            <a:r>
              <a:rPr lang="en-US" b="1" dirty="0"/>
              <a:t>Applied Generative Artificial Intelligence and Large Language Model Applications</a:t>
            </a:r>
          </a:p>
          <a:p>
            <a:r>
              <a:rPr lang="en-US" b="1" dirty="0"/>
              <a:t>Elective Course: </a:t>
            </a:r>
            <a:r>
              <a:rPr lang="en-US" dirty="0"/>
              <a:t>Special Topic</a:t>
            </a:r>
          </a:p>
          <a:p>
            <a:r>
              <a:rPr lang="en-US" dirty="0"/>
              <a:t>CISC395 CRN 15738, Spring 2026</a:t>
            </a:r>
          </a:p>
          <a:p>
            <a:endParaRPr lang="en-US" dirty="0"/>
          </a:p>
          <a:p>
            <a:pPr marL="91440" indent="0">
              <a:buNone/>
            </a:pPr>
            <a:r>
              <a:rPr lang="en-US" b="1" dirty="0"/>
              <a:t>Key Course Highlights:</a:t>
            </a:r>
          </a:p>
          <a:p>
            <a:pPr lvl="1"/>
            <a:r>
              <a:rPr lang="en-US" b="1" dirty="0"/>
              <a:t>Practical Focus</a:t>
            </a:r>
            <a:r>
              <a:rPr lang="en-US" dirty="0"/>
              <a:t>: Mastery of state-of-the-art tools.</a:t>
            </a:r>
          </a:p>
          <a:p>
            <a:pPr lvl="1"/>
            <a:r>
              <a:rPr lang="en-US" b="1" dirty="0"/>
              <a:t>Core Skills</a:t>
            </a:r>
            <a:r>
              <a:rPr lang="en-US" dirty="0"/>
              <a:t>: Prompt engineering, AI-assisted coding (vibe coding), and building Retrieval-Augmented Generation (RAG) systems.</a:t>
            </a:r>
          </a:p>
          <a:p>
            <a:pPr lvl="1"/>
            <a:r>
              <a:rPr lang="en-US" b="1" dirty="0"/>
              <a:t>Hands-On Labs</a:t>
            </a:r>
            <a:r>
              <a:rPr lang="en-US" dirty="0"/>
              <a:t>: Develop real-world applications using industry-standard tools like Google AI Studio, Copilot CLI, Streamlit, and Gradio.</a:t>
            </a:r>
          </a:p>
        </p:txBody>
      </p:sp>
      <p:sp>
        <p:nvSpPr>
          <p:cNvPr id="4" name="Slide Number Placeholder 3">
            <a:extLst>
              <a:ext uri="{FF2B5EF4-FFF2-40B4-BE49-F238E27FC236}">
                <a16:creationId xmlns:a16="http://schemas.microsoft.com/office/drawing/2014/main" id="{7C4FFEB0-49CD-D0D8-E3FD-EAEA3F7D0B7E}"/>
              </a:ext>
            </a:extLst>
          </p:cNvPr>
          <p:cNvSpPr>
            <a:spLocks noGrp="1"/>
          </p:cNvSpPr>
          <p:nvPr>
            <p:ph type="sldNum" sz="quarter" idx="4"/>
          </p:nvPr>
        </p:nvSpPr>
        <p:spPr/>
        <p:txBody>
          <a:bodyPr/>
          <a:lstStyle/>
          <a:p>
            <a:pPr>
              <a:defRPr/>
            </a:pPr>
            <a:fld id="{C3099B72-DEA2-4ACC-9A6B-2F17D54AC7BB}" type="slidenum">
              <a:rPr lang="en-US" altLang="en-US" smtClean="0"/>
              <a:pPr>
                <a:defRPr/>
              </a:pPr>
              <a:t>17</a:t>
            </a:fld>
            <a:endParaRPr lang="en-US" altLang="en-US" dirty="0"/>
          </a:p>
        </p:txBody>
      </p:sp>
    </p:spTree>
    <p:extLst>
      <p:ext uri="{BB962C8B-B14F-4D97-AF65-F5344CB8AC3E}">
        <p14:creationId xmlns:p14="http://schemas.microsoft.com/office/powerpoint/2010/main" val="2916027919"/>
      </p:ext>
    </p:extLst>
  </p:cSld>
  <p:clrMapOvr>
    <a:masterClrMapping/>
  </p:clrMapOvr>
</p:sld>
</file>

<file path=ppt/theme/theme1.xml><?xml version="1.0" encoding="utf-8"?>
<a:theme xmlns:a="http://schemas.openxmlformats.org/drawingml/2006/main" name="n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cs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cs typeface="Arial" pitchFamily="34" charset="0"/>
          </a:defRPr>
        </a:defPPr>
      </a:lstStyle>
    </a:lnDef>
    <a:txDef>
      <a:spPr>
        <a:noFill/>
      </a:spPr>
      <a:bodyPr wrap="square" rtlCol="0">
        <a:spAutoFit/>
      </a:bodyPr>
      <a:lstStyle>
        <a:defPPr algn="l">
          <a:defRPr sz="2200" dirty="0">
            <a:latin typeface="Calibri Light" panose="020F0302020204030204" pitchFamily="34" charset="0"/>
          </a:defRPr>
        </a:defPPr>
      </a:lst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ew" id="{9EDC4FAE-B88E-47E8-8131-5ACEAD78E9E7}" vid="{91DE21BF-479D-45D2-AB11-F21DB832D917}"/>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2418</Words>
  <Application>Microsoft Office PowerPoint</Application>
  <PresentationFormat>On-screen Show (4:3)</PresentationFormat>
  <Paragraphs>225</Paragraphs>
  <Slides>17</Slides>
  <Notes>14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17</vt:i4>
      </vt:variant>
    </vt:vector>
  </HeadingPairs>
  <TitlesOfParts>
    <vt:vector size="27" baseType="lpstr">
      <vt:lpstr>-apple-system</vt:lpstr>
      <vt:lpstr>Arial</vt:lpstr>
      <vt:lpstr>Calibri</vt:lpstr>
      <vt:lpstr>Calibri Light</vt:lpstr>
      <vt:lpstr>Cambria</vt:lpstr>
      <vt:lpstr>Consolas</vt:lpstr>
      <vt:lpstr>Noto Sans</vt:lpstr>
      <vt:lpstr>Wingdings</vt:lpstr>
      <vt:lpstr>new</vt:lpstr>
      <vt:lpstr>Blank</vt:lpstr>
      <vt:lpstr>PowerPoint Presentation</vt:lpstr>
      <vt:lpstr>Agenda</vt:lpstr>
      <vt:lpstr>What is "Vibe Coding"</vt:lpstr>
      <vt:lpstr>The Art of the Prompt</vt:lpstr>
      <vt:lpstr>Design a Game: Classic Snake</vt:lpstr>
      <vt:lpstr>Design a Game: Classic Snake</vt:lpstr>
      <vt:lpstr>Step 1: The Objective</vt:lpstr>
      <vt:lpstr>Step 2:  Gameplay Mechanics</vt:lpstr>
      <vt:lpstr>Step 3: GUI Design</vt:lpstr>
      <vt:lpstr>Step 4: The Implementation Plan</vt:lpstr>
      <vt:lpstr>Step 5: The Deliverable</vt:lpstr>
      <vt:lpstr>The Final Prompt</vt:lpstr>
      <vt:lpstr>Vibe Coding: Live Demo!</vt:lpstr>
      <vt:lpstr>More Game Design Prompt Templates</vt:lpstr>
      <vt:lpstr>Recap</vt:lpstr>
      <vt:lpstr>Q &amp; A</vt:lpstr>
      <vt:lpstr>New Course CISC395 (Spring 2026)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2021-09-07T15:03:29Z</dcterms:created>
  <dcterms:modified xsi:type="dcterms:W3CDTF">2025-11-10T22:55:39Z</dcterms:modified>
</cp:coreProperties>
</file>